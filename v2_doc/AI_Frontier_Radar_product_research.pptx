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6537960"/>
            <a:ext cx="11612880" cy="0"/>
          </a:xfrm>
          <a:prstGeom prst="line">
            <a:avLst/>
          </a:prstGeom>
          <a:noFill/>
          <a:ln w="12700">
            <a:solidFill>
              <a:srgbClr val="1F36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6539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A3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Frontier Radar · 产品前期调研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CA3B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CA3B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9144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Frontier Radar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12648" y="166420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D3EE"/>
                </a:solidFill>
              </a:rPr>
              <a:t>产品前期调研：全球 AI 前沿信息获取入口、信号类型与策略地图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106070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CE7F3"/>
                </a:solidFill>
              </a:rPr>
              <a:t>目标：把全球 AI 官方公告、研究博客、论文、榜单、产品文档、开源生态、社区信号和行业报告，转化为中文洞察卡、每日雷达、趋势判断和行动建议。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46120"/>
            <a:ext cx="2103120" cy="292608"/>
          </a:xfrm>
          <a:prstGeom prst="roundRect">
            <a:avLst>
              <a:gd name="adj" fmla="val 21875"/>
            </a:avLst>
          </a:prstGeom>
          <a:solidFill>
            <a:srgbClr val="34D399">
              <a:alpha val="88000"/>
            </a:srgbClr>
          </a:solidFill>
          <a:ln w="6350">
            <a:solidFill>
              <a:srgbClr val="34D399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330555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8FAFC"/>
                </a:solidFill>
              </a:rPr>
              <a:t>调研版 / 概念规划 / 来源策略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2880360" y="3246120"/>
            <a:ext cx="3383280" cy="292608"/>
          </a:xfrm>
          <a:prstGeom prst="roundRect">
            <a:avLst>
              <a:gd name="adj" fmla="val 21875"/>
            </a:avLst>
          </a:prstGeom>
          <a:solidFill>
            <a:srgbClr val="60A5FA">
              <a:alpha val="88000"/>
            </a:srgbClr>
          </a:solidFill>
          <a:ln w="6350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53512" y="3305556"/>
            <a:ext cx="3236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8FAFC"/>
                </a:solidFill>
              </a:rPr>
              <a:t>适用于 AI 从业者 · 独立开发者 · 产品探索者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6400800" y="3246120"/>
            <a:ext cx="3063240" cy="292608"/>
          </a:xfrm>
          <a:prstGeom prst="roundRect">
            <a:avLst>
              <a:gd name="adj" fmla="val 21875"/>
            </a:avLst>
          </a:prstGeom>
          <a:solidFill>
            <a:srgbClr val="A78BFA">
              <a:alpha val="88000"/>
            </a:srgbClr>
          </a:solidFill>
          <a:ln w="635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3952" y="3305556"/>
            <a:ext cx="2916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8FAFC"/>
                </a:solidFill>
              </a:rPr>
              <a:t>第一版：官方源 + RSS/HTML + 今日雷达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CA3B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823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调研结论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589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这个产品不是资讯站，而是“全球 AI 信号采集与中文洞察编译底座”。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11247120" cy="0"/>
          </a:xfrm>
          <a:prstGeom prst="line">
            <a:avLst/>
          </a:prstGeom>
          <a:noFill/>
          <a:ln w="12700">
            <a:solidFill>
              <a:srgbClr val="24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55480" y="347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2C8"/>
                </a:solidFill>
              </a:rPr>
              <a:t>Executive summary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32588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102A3E"/>
          </a:solidFill>
          <a:ln w="12700">
            <a:solidFill>
              <a:srgbClr val="24415F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46304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91640" y="14356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入口多样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291840" y="1399032"/>
            <a:ext cx="7863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CE7F3"/>
                </a:solidFill>
              </a:rPr>
              <a:t>官方新闻、Docs、Pricing、Benchmark、论文、开源、社区、报告等入口都提供不同信号。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" y="2386584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0E2035"/>
          </a:solidFill>
          <a:ln w="12700">
            <a:solidFill>
              <a:srgbClr val="24415F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523744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91640" y="2496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策略不同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291840" y="2459736"/>
            <a:ext cx="7863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CE7F3"/>
                </a:solidFill>
              </a:rPr>
              <a:t>RSS/HTML 只适合文章型入口；Docs diff、榜单结构化、GitHub Release、PDF 解析是不同策略。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" y="3447288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102A3E"/>
          </a:solidFill>
          <a:ln w="12700">
            <a:solidFill>
              <a:srgbClr val="24415F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584448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91640" y="35570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信号优先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291840" y="3520440"/>
            <a:ext cx="7863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CE7F3"/>
                </a:solidFill>
              </a:rPr>
              <a:t>不要先堆网站，而要先定义想捕捉的变化：模型发布、API 变化、价格变化、能力排名、产品机会。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" y="4507992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0E2035"/>
          </a:solidFill>
          <a:ln w="12700">
            <a:solidFill>
              <a:srgbClr val="24415F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64515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91640" y="46177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第一版收口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3291840" y="4581144"/>
            <a:ext cx="7863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CE7F3"/>
                </a:solidFill>
              </a:rPr>
              <a:t>优先稳定官方源 + RSS/HTML + 今日雷达 + 中文摘要 + InsightCard，其他入口做候选池。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CA3B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823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用户真实问题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589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英文 AI 前沿信息不是“看不懂”，而是“来源多、信号散、价值难判断”。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11247120" cy="0"/>
          </a:xfrm>
          <a:prstGeom prst="line">
            <a:avLst/>
          </a:prstGeom>
          <a:noFill/>
          <a:ln w="12700">
            <a:solidFill>
              <a:srgbClr val="24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55480" y="347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2C8"/>
                </a:solidFill>
              </a:rPr>
              <a:t>User jobs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234440"/>
            <a:ext cx="11018520" cy="640080"/>
          </a:xfrm>
          <a:prstGeom prst="rect">
            <a:avLst/>
          </a:prstGeom>
          <a:solidFill>
            <a:srgbClr val="11324D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84732"/>
            <a:ext cx="201168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890" dirty="0"/>
          </a:p>
        </p:txBody>
      </p:sp>
      <p:sp>
        <p:nvSpPr>
          <p:cNvPr id="9" name="Shape 7"/>
          <p:cNvSpPr/>
          <p:nvPr/>
        </p:nvSpPr>
        <p:spPr>
          <a:xfrm>
            <a:off x="2697480" y="1234440"/>
            <a:ext cx="0" cy="64008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1284732"/>
            <a:ext cx="384048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</a:t>
            </a:r>
            <a:endParaRPr lang="en-US" sz="890" dirty="0"/>
          </a:p>
        </p:txBody>
      </p:sp>
      <p:sp>
        <p:nvSpPr>
          <p:cNvPr id="11" name="Shape 9"/>
          <p:cNvSpPr/>
          <p:nvPr/>
        </p:nvSpPr>
        <p:spPr>
          <a:xfrm>
            <a:off x="6629400" y="1234440"/>
            <a:ext cx="0" cy="64008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284732"/>
            <a:ext cx="489204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产品要解决的问题</a:t>
            </a:r>
            <a:endParaRPr lang="en-US" sz="890" dirty="0"/>
          </a:p>
        </p:txBody>
      </p:sp>
      <p:sp>
        <p:nvSpPr>
          <p:cNvPr id="13" name="Shape 11"/>
          <p:cNvSpPr/>
          <p:nvPr/>
        </p:nvSpPr>
        <p:spPr>
          <a:xfrm>
            <a:off x="594360" y="1874520"/>
            <a:ext cx="11018520" cy="64008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924812"/>
            <a:ext cx="201168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不知道看哪里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2697480" y="1874520"/>
            <a:ext cx="0" cy="64008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0" y="1924812"/>
            <a:ext cx="384048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官网、博客、论文、榜单、社区混杂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6629400" y="1874520"/>
            <a:ext cx="0" cy="64008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1924812"/>
            <a:ext cx="489204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建立来源目录与入口策略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594360" y="2514600"/>
            <a:ext cx="11018520" cy="640080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564892"/>
            <a:ext cx="201168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不知道能不能抓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2697480" y="2514600"/>
            <a:ext cx="0" cy="64008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0" y="2564892"/>
            <a:ext cx="384048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RSS 缺失、403/400、动态渲染、反爬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6629400" y="2514600"/>
            <a:ext cx="0" cy="64008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2564892"/>
            <a:ext cx="489204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来源健康与获取策略分级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594360" y="3154680"/>
            <a:ext cx="11018520" cy="64008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204972"/>
            <a:ext cx="201168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不知道是否重要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2697480" y="3154680"/>
            <a:ext cx="0" cy="64008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0" y="3204972"/>
            <a:ext cx="384048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新闻很多但和项目无关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6629400" y="3154680"/>
            <a:ext cx="0" cy="64008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0" y="3204972"/>
            <a:ext cx="489204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个人关注方向与相关性判断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594360" y="3794760"/>
            <a:ext cx="11018520" cy="640080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3845052"/>
            <a:ext cx="201168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看完难沉淀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2697480" y="3794760"/>
            <a:ext cx="0" cy="64008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0" y="3845052"/>
            <a:ext cx="384048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只读一次，无法转成任务/报告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6629400" y="3794760"/>
            <a:ext cx="0" cy="64008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0" y="3845052"/>
            <a:ext cx="489204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InsightCard / DailyReport / ActionTask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594360" y="4434840"/>
            <a:ext cx="11018520" cy="64008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4485132"/>
            <a:ext cx="201168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成本不可控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2697480" y="4434840"/>
            <a:ext cx="0" cy="64008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0" y="4485132"/>
            <a:ext cx="384048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批量生成容易失控</a:t>
            </a:r>
            <a:endParaRPr lang="en-US" sz="860" dirty="0"/>
          </a:p>
        </p:txBody>
      </p:sp>
      <p:sp>
        <p:nvSpPr>
          <p:cNvPr id="41" name="Shape 39"/>
          <p:cNvSpPr/>
          <p:nvPr/>
        </p:nvSpPr>
        <p:spPr>
          <a:xfrm>
            <a:off x="6629400" y="4434840"/>
            <a:ext cx="0" cy="64008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75120" y="4485132"/>
            <a:ext cx="489204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批处理上限、幂等、dry-run、状态追踪</a:t>
            </a:r>
            <a:endParaRPr lang="en-US" sz="860" dirty="0"/>
          </a:p>
        </p:txBody>
      </p:sp>
      <p:sp>
        <p:nvSpPr>
          <p:cNvPr id="43" name="Shape 41"/>
          <p:cNvSpPr/>
          <p:nvPr/>
        </p:nvSpPr>
        <p:spPr>
          <a:xfrm>
            <a:off x="868680" y="5349240"/>
            <a:ext cx="10424160" cy="594360"/>
          </a:xfrm>
          <a:prstGeom prst="roundRect">
            <a:avLst>
              <a:gd name="adj" fmla="val 12308"/>
            </a:avLst>
          </a:prstGeom>
          <a:solidFill>
            <a:srgbClr val="0A2830"/>
          </a:solidFill>
          <a:ln w="1270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05840" y="5486400"/>
            <a:ext cx="101498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核心产品价值：不是翻译新闻，而是把全球 AI 信号转成“我能判断、能行动、能沉淀”的中文知识资产。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CA3B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823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Signal-first：先定义要捕捉什么变化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589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 AI 事件会在多个入口出现，产品要做信号交叉验证。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11247120" cy="0"/>
          </a:xfrm>
          <a:prstGeom prst="line">
            <a:avLst/>
          </a:prstGeom>
          <a:noFill/>
          <a:ln w="12700">
            <a:solidFill>
              <a:srgbClr val="24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55480" y="347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2C8"/>
                </a:solidFill>
              </a:rPr>
              <a:t>Signal first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2057400" cy="3566160"/>
          </a:xfrm>
          <a:prstGeom prst="roundRect">
            <a:avLst>
              <a:gd name="adj" fmla="val 3556"/>
            </a:avLst>
          </a:prstGeom>
          <a:solidFill>
            <a:srgbClr val="0B2A39"/>
          </a:solidFill>
          <a:ln w="1270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6152" y="17373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000000"/>
                </a:solidFill>
              </a:rPr>
              <a:t>📡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67512" y="2331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发现信号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04088" y="2852928"/>
            <a:ext cx="16459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7F3"/>
                </a:solidFill>
              </a:rPr>
              <a:t>榜单、社区、官方消息、文档更新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68880" y="2743200"/>
            <a:ext cx="384048" cy="548640"/>
          </a:xfrm>
          <a:prstGeom prst="chevron">
            <a:avLst/>
          </a:prstGeom>
          <a:solidFill>
            <a:srgbClr val="22D3EE">
              <a:alpha val="65000"/>
            </a:srgbClr>
          </a:solidFill>
          <a:ln w="1270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34640" y="1417320"/>
            <a:ext cx="2057400" cy="3566160"/>
          </a:xfrm>
          <a:prstGeom prst="roundRect">
            <a:avLst>
              <a:gd name="adj" fmla="val 3556"/>
            </a:avLst>
          </a:prstGeom>
          <a:solidFill>
            <a:srgbClr val="0F243B"/>
          </a:solidFill>
          <a:ln w="12700">
            <a:solidFill>
              <a:srgbClr val="60A5FA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47872" y="17373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000000"/>
                </a:solidFill>
              </a:rPr>
              <a:t>🧭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2999232" y="2331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判断类型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035808" y="2852928"/>
            <a:ext cx="16459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7F3"/>
                </a:solidFill>
              </a:rPr>
              <a:t>模型发布 / API 变化 / 价格变化 / 能力排行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0600" y="2743200"/>
            <a:ext cx="384048" cy="548640"/>
          </a:xfrm>
          <a:prstGeom prst="chevron">
            <a:avLst/>
          </a:prstGeom>
          <a:solidFill>
            <a:srgbClr val="22D3EE">
              <a:alpha val="65000"/>
            </a:srgbClr>
          </a:solidFill>
          <a:ln w="1270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66360" y="1417320"/>
            <a:ext cx="2057400" cy="3566160"/>
          </a:xfrm>
          <a:prstGeom prst="roundRect">
            <a:avLst>
              <a:gd name="adj" fmla="val 3556"/>
            </a:avLst>
          </a:prstGeom>
          <a:solidFill>
            <a:srgbClr val="0B2A39"/>
          </a:solidFill>
          <a:ln w="1270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79592" y="17373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000000"/>
                </a:solidFill>
              </a:rPr>
              <a:t>🧪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5330952" y="2331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交叉验证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67528" y="2852928"/>
            <a:ext cx="16459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7F3"/>
                </a:solidFill>
              </a:rPr>
              <a:t>官网 + Docs + Benchmark + 社区反馈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132320" y="2743200"/>
            <a:ext cx="384048" cy="548640"/>
          </a:xfrm>
          <a:prstGeom prst="chevron">
            <a:avLst/>
          </a:prstGeom>
          <a:solidFill>
            <a:srgbClr val="22D3EE">
              <a:alpha val="65000"/>
            </a:srgbClr>
          </a:solidFill>
          <a:ln w="1270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98080" y="1417320"/>
            <a:ext cx="2057400" cy="3566160"/>
          </a:xfrm>
          <a:prstGeom prst="roundRect">
            <a:avLst>
              <a:gd name="adj" fmla="val 3556"/>
            </a:avLst>
          </a:prstGeom>
          <a:solidFill>
            <a:srgbClr val="0F243B"/>
          </a:solidFill>
          <a:ln w="12700">
            <a:solidFill>
              <a:srgbClr val="60A5FA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11312" y="17373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000000"/>
                </a:solidFill>
              </a:rPr>
              <a:t>🧠</a:t>
            </a:r>
            <a:endParaRPr lang="en-US" sz="2500" dirty="0"/>
          </a:p>
        </p:txBody>
      </p:sp>
      <p:sp>
        <p:nvSpPr>
          <p:cNvPr id="24" name="Text 22"/>
          <p:cNvSpPr/>
          <p:nvPr/>
        </p:nvSpPr>
        <p:spPr>
          <a:xfrm>
            <a:off x="7662672" y="2331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结构理解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699248" y="2852928"/>
            <a:ext cx="16459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7F3"/>
                </a:solidFill>
              </a:rPr>
              <a:t>事实 / 原文观点 / 模型推断 / 个人建议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464040" y="2743200"/>
            <a:ext cx="384048" cy="548640"/>
          </a:xfrm>
          <a:prstGeom prst="chevron">
            <a:avLst/>
          </a:prstGeom>
          <a:solidFill>
            <a:srgbClr val="22D3EE">
              <a:alpha val="65000"/>
            </a:srgbClr>
          </a:solidFill>
          <a:ln w="1270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829800" y="1417320"/>
            <a:ext cx="2057400" cy="3566160"/>
          </a:xfrm>
          <a:prstGeom prst="roundRect">
            <a:avLst>
              <a:gd name="adj" fmla="val 3556"/>
            </a:avLst>
          </a:prstGeom>
          <a:solidFill>
            <a:srgbClr val="0B2A39"/>
          </a:solidFill>
          <a:ln w="1270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43032" y="17373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000000"/>
                </a:solidFill>
              </a:rPr>
              <a:t>📌</a:t>
            </a:r>
            <a:endParaRPr lang="en-US" sz="2500" dirty="0"/>
          </a:p>
        </p:txBody>
      </p:sp>
      <p:sp>
        <p:nvSpPr>
          <p:cNvPr id="29" name="Text 27"/>
          <p:cNvSpPr/>
          <p:nvPr/>
        </p:nvSpPr>
        <p:spPr>
          <a:xfrm>
            <a:off x="9994392" y="2331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沉淀输出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030968" y="2852928"/>
            <a:ext cx="16459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7F3"/>
                </a:solidFill>
              </a:rPr>
              <a:t>洞察卡 / 每日报告 / 行动任务 / 趋势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60120" y="5532120"/>
            <a:ext cx="10149840" cy="475488"/>
          </a:xfrm>
          <a:prstGeom prst="roundRect">
            <a:avLst>
              <a:gd name="adj" fmla="val 15385"/>
            </a:avLst>
          </a:prstGeom>
          <a:solidFill>
            <a:srgbClr val="0A2830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97280" y="5669280"/>
            <a:ext cx="987552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设计原则：Source 是入口；Signal 是判断对象；Insight 是用户价值。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CA3B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823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信息入口全景：18 类入口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589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前期调研应把“入口类型 / 代表网站 / 信号价值 / 获取策略”一并记录。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11247120" cy="0"/>
          </a:xfrm>
          <a:prstGeom prst="line">
            <a:avLst/>
          </a:prstGeom>
          <a:noFill/>
          <a:ln w="12700">
            <a:solidFill>
              <a:srgbClr val="24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55480" y="347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2C8"/>
                </a:solidFill>
              </a:rPr>
              <a:t>Entry map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3566160" cy="621792"/>
          </a:xfrm>
          <a:prstGeom prst="roundRect">
            <a:avLst>
              <a:gd name="adj" fmla="val 11765"/>
            </a:avLst>
          </a:prstGeom>
          <a:solidFill>
            <a:srgbClr val="102A3E"/>
          </a:solidFill>
          <a:ln w="12700">
            <a:solidFill>
              <a:srgbClr val="24415F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408176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8FAFC"/>
                </a:solidFill>
              </a:rPr>
              <a:t>🏢 官方公告</a:t>
            </a:r>
            <a:endParaRPr lang="en-US" sz="1240" dirty="0"/>
          </a:p>
        </p:txBody>
      </p:sp>
      <p:sp>
        <p:nvSpPr>
          <p:cNvPr id="9" name="Shape 7"/>
          <p:cNvSpPr/>
          <p:nvPr/>
        </p:nvSpPr>
        <p:spPr>
          <a:xfrm>
            <a:off x="4507992" y="1234440"/>
            <a:ext cx="3566160" cy="621792"/>
          </a:xfrm>
          <a:prstGeom prst="roundRect">
            <a:avLst>
              <a:gd name="adj" fmla="val 11765"/>
            </a:avLst>
          </a:prstGeom>
          <a:solidFill>
            <a:srgbClr val="0D2337"/>
          </a:solidFill>
          <a:ln w="12700">
            <a:solidFill>
              <a:srgbClr val="24415F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72584" y="1408176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8FAFC"/>
                </a:solidFill>
              </a:rPr>
              <a:t>🧪 官方研究博客</a:t>
            </a:r>
            <a:endParaRPr lang="en-US" sz="1240" dirty="0"/>
          </a:p>
        </p:txBody>
      </p:sp>
      <p:sp>
        <p:nvSpPr>
          <p:cNvPr id="11" name="Shape 9"/>
          <p:cNvSpPr/>
          <p:nvPr/>
        </p:nvSpPr>
        <p:spPr>
          <a:xfrm>
            <a:off x="8330184" y="1234440"/>
            <a:ext cx="3566160" cy="621792"/>
          </a:xfrm>
          <a:prstGeom prst="roundRect">
            <a:avLst>
              <a:gd name="adj" fmla="val 11765"/>
            </a:avLst>
          </a:prstGeom>
          <a:solidFill>
            <a:srgbClr val="102A3E"/>
          </a:solidFill>
          <a:ln w="12700">
            <a:solidFill>
              <a:srgbClr val="24415F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94776" y="1408176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8FAFC"/>
                </a:solidFill>
              </a:rPr>
              <a:t>📄 论文源</a:t>
            </a:r>
            <a:endParaRPr lang="en-US" sz="1240" dirty="0"/>
          </a:p>
        </p:txBody>
      </p:sp>
      <p:sp>
        <p:nvSpPr>
          <p:cNvPr id="13" name="Shape 11"/>
          <p:cNvSpPr/>
          <p:nvPr/>
        </p:nvSpPr>
        <p:spPr>
          <a:xfrm>
            <a:off x="685800" y="1947672"/>
            <a:ext cx="3566160" cy="621792"/>
          </a:xfrm>
          <a:prstGeom prst="roundRect">
            <a:avLst>
              <a:gd name="adj" fmla="val 11765"/>
            </a:avLst>
          </a:prstGeom>
          <a:solidFill>
            <a:srgbClr val="0D2337"/>
          </a:solidFill>
          <a:ln w="12700">
            <a:solidFill>
              <a:srgbClr val="24415F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212140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8FAFC"/>
                </a:solidFill>
              </a:rPr>
              <a:t>🧰 开源生态</a:t>
            </a:r>
            <a:endParaRPr lang="en-US" sz="1240" dirty="0"/>
          </a:p>
        </p:txBody>
      </p:sp>
      <p:sp>
        <p:nvSpPr>
          <p:cNvPr id="15" name="Shape 13"/>
          <p:cNvSpPr/>
          <p:nvPr/>
        </p:nvSpPr>
        <p:spPr>
          <a:xfrm>
            <a:off x="4507992" y="1947672"/>
            <a:ext cx="3566160" cy="621792"/>
          </a:xfrm>
          <a:prstGeom prst="roundRect">
            <a:avLst>
              <a:gd name="adj" fmla="val 11765"/>
            </a:avLst>
          </a:prstGeom>
          <a:solidFill>
            <a:srgbClr val="102A3E"/>
          </a:solidFill>
          <a:ln w="12700">
            <a:solidFill>
              <a:srgbClr val="24415F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72584" y="212140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8FAFC"/>
                </a:solidFill>
              </a:rPr>
              <a:t>🧑‍💻 产品能力</a:t>
            </a:r>
            <a:endParaRPr lang="en-US" sz="1240" dirty="0"/>
          </a:p>
        </p:txBody>
      </p:sp>
      <p:sp>
        <p:nvSpPr>
          <p:cNvPr id="17" name="Shape 15"/>
          <p:cNvSpPr/>
          <p:nvPr/>
        </p:nvSpPr>
        <p:spPr>
          <a:xfrm>
            <a:off x="8330184" y="1947672"/>
            <a:ext cx="3566160" cy="621792"/>
          </a:xfrm>
          <a:prstGeom prst="roundRect">
            <a:avLst>
              <a:gd name="adj" fmla="val 11765"/>
            </a:avLst>
          </a:prstGeom>
          <a:solidFill>
            <a:srgbClr val="0D2337"/>
          </a:solidFill>
          <a:ln w="12700">
            <a:solidFill>
              <a:srgbClr val="24415F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94776" y="212140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8FAFC"/>
                </a:solidFill>
              </a:rPr>
              <a:t>📚 API/Docs Diff</a:t>
            </a:r>
            <a:endParaRPr lang="en-US" sz="1240" dirty="0"/>
          </a:p>
        </p:txBody>
      </p:sp>
      <p:sp>
        <p:nvSpPr>
          <p:cNvPr id="19" name="Shape 17"/>
          <p:cNvSpPr/>
          <p:nvPr/>
        </p:nvSpPr>
        <p:spPr>
          <a:xfrm>
            <a:off x="685800" y="2660904"/>
            <a:ext cx="3566160" cy="621792"/>
          </a:xfrm>
          <a:prstGeom prst="roundRect">
            <a:avLst>
              <a:gd name="adj" fmla="val 11765"/>
            </a:avLst>
          </a:prstGeom>
          <a:solidFill>
            <a:srgbClr val="102A3E"/>
          </a:solidFill>
          <a:ln w="12700">
            <a:solidFill>
              <a:srgbClr val="24415F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" y="283464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8FAFC"/>
                </a:solidFill>
              </a:rPr>
              <a:t>💰 Pricing/Quota</a:t>
            </a:r>
            <a:endParaRPr lang="en-US" sz="1240" dirty="0"/>
          </a:p>
        </p:txBody>
      </p:sp>
      <p:sp>
        <p:nvSpPr>
          <p:cNvPr id="21" name="Shape 19"/>
          <p:cNvSpPr/>
          <p:nvPr/>
        </p:nvSpPr>
        <p:spPr>
          <a:xfrm>
            <a:off x="4507992" y="2660904"/>
            <a:ext cx="3566160" cy="621792"/>
          </a:xfrm>
          <a:prstGeom prst="roundRect">
            <a:avLst>
              <a:gd name="adj" fmla="val 11765"/>
            </a:avLst>
          </a:prstGeom>
          <a:solidFill>
            <a:srgbClr val="0D2337"/>
          </a:solidFill>
          <a:ln w="12700">
            <a:solidFill>
              <a:srgbClr val="24415F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72584" y="283464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8FAFC"/>
                </a:solidFill>
              </a:rPr>
              <a:t>🏆 Benchmark/榜单</a:t>
            </a:r>
            <a:endParaRPr lang="en-US" sz="1240" dirty="0"/>
          </a:p>
        </p:txBody>
      </p:sp>
      <p:sp>
        <p:nvSpPr>
          <p:cNvPr id="23" name="Shape 21"/>
          <p:cNvSpPr/>
          <p:nvPr/>
        </p:nvSpPr>
        <p:spPr>
          <a:xfrm>
            <a:off x="8330184" y="2660904"/>
            <a:ext cx="3566160" cy="621792"/>
          </a:xfrm>
          <a:prstGeom prst="roundRect">
            <a:avLst>
              <a:gd name="adj" fmla="val 11765"/>
            </a:avLst>
          </a:prstGeom>
          <a:solidFill>
            <a:srgbClr val="102A3E"/>
          </a:solidFill>
          <a:ln w="12700">
            <a:solidFill>
              <a:srgbClr val="24415F">
                <a:alpha val="9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94776" y="283464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8FAFC"/>
                </a:solidFill>
              </a:rPr>
              <a:t>📊 行业报告</a:t>
            </a:r>
            <a:endParaRPr lang="en-US" sz="1240" dirty="0"/>
          </a:p>
        </p:txBody>
      </p:sp>
      <p:sp>
        <p:nvSpPr>
          <p:cNvPr id="25" name="Shape 23"/>
          <p:cNvSpPr/>
          <p:nvPr/>
        </p:nvSpPr>
        <p:spPr>
          <a:xfrm>
            <a:off x="685800" y="3374136"/>
            <a:ext cx="3566160" cy="621792"/>
          </a:xfrm>
          <a:prstGeom prst="roundRect">
            <a:avLst>
              <a:gd name="adj" fmla="val 11765"/>
            </a:avLst>
          </a:prstGeom>
          <a:solidFill>
            <a:srgbClr val="0D2337"/>
          </a:solidFill>
          <a:ln w="12700">
            <a:solidFill>
              <a:srgbClr val="24415F">
                <a:alpha val="9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" y="354787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8FAFC"/>
                </a:solidFill>
              </a:rPr>
              <a:t>⚖️ 政策/标准</a:t>
            </a:r>
            <a:endParaRPr lang="en-US" sz="1240" dirty="0"/>
          </a:p>
        </p:txBody>
      </p:sp>
      <p:sp>
        <p:nvSpPr>
          <p:cNvPr id="27" name="Shape 25"/>
          <p:cNvSpPr/>
          <p:nvPr/>
        </p:nvSpPr>
        <p:spPr>
          <a:xfrm>
            <a:off x="4507992" y="3374136"/>
            <a:ext cx="3566160" cy="621792"/>
          </a:xfrm>
          <a:prstGeom prst="roundRect">
            <a:avLst>
              <a:gd name="adj" fmla="val 11765"/>
            </a:avLst>
          </a:prstGeom>
          <a:solidFill>
            <a:srgbClr val="102A3E"/>
          </a:solidFill>
          <a:ln w="12700">
            <a:solidFill>
              <a:srgbClr val="24415F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72584" y="354787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8FAFC"/>
                </a:solidFill>
              </a:rPr>
              <a:t>💬 社区信号</a:t>
            </a:r>
            <a:endParaRPr lang="en-US" sz="1240" dirty="0"/>
          </a:p>
        </p:txBody>
      </p:sp>
      <p:sp>
        <p:nvSpPr>
          <p:cNvPr id="29" name="Shape 27"/>
          <p:cNvSpPr/>
          <p:nvPr/>
        </p:nvSpPr>
        <p:spPr>
          <a:xfrm>
            <a:off x="8330184" y="3374136"/>
            <a:ext cx="3566160" cy="621792"/>
          </a:xfrm>
          <a:prstGeom prst="roundRect">
            <a:avLst>
              <a:gd name="adj" fmla="val 11765"/>
            </a:avLst>
          </a:prstGeom>
          <a:solidFill>
            <a:srgbClr val="0D2337"/>
          </a:solidFill>
          <a:ln w="12700">
            <a:solidFill>
              <a:srgbClr val="24415F">
                <a:alpha val="9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94776" y="354787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8FAFC"/>
                </a:solidFill>
              </a:rPr>
              <a:t>📰 Newsletter/聚合</a:t>
            </a:r>
            <a:endParaRPr lang="en-US" sz="1240" dirty="0"/>
          </a:p>
        </p:txBody>
      </p:sp>
      <p:sp>
        <p:nvSpPr>
          <p:cNvPr id="31" name="Shape 29"/>
          <p:cNvSpPr/>
          <p:nvPr/>
        </p:nvSpPr>
        <p:spPr>
          <a:xfrm>
            <a:off x="685800" y="4087368"/>
            <a:ext cx="3566160" cy="621792"/>
          </a:xfrm>
          <a:prstGeom prst="roundRect">
            <a:avLst>
              <a:gd name="adj" fmla="val 11765"/>
            </a:avLst>
          </a:prstGeom>
          <a:solidFill>
            <a:srgbClr val="102A3E"/>
          </a:solidFill>
          <a:ln w="12700">
            <a:solidFill>
              <a:srgbClr val="24415F">
                <a:alpha val="9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0392" y="4261104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8FAFC"/>
                </a:solidFill>
              </a:rPr>
              <a:t>✍️ 人工 URL</a:t>
            </a:r>
            <a:endParaRPr lang="en-US" sz="1240" dirty="0"/>
          </a:p>
        </p:txBody>
      </p:sp>
      <p:sp>
        <p:nvSpPr>
          <p:cNvPr id="33" name="Shape 31"/>
          <p:cNvSpPr/>
          <p:nvPr/>
        </p:nvSpPr>
        <p:spPr>
          <a:xfrm>
            <a:off x="4507992" y="4087368"/>
            <a:ext cx="3566160" cy="621792"/>
          </a:xfrm>
          <a:prstGeom prst="roundRect">
            <a:avLst>
              <a:gd name="adj" fmla="val 11765"/>
            </a:avLst>
          </a:prstGeom>
          <a:solidFill>
            <a:srgbClr val="0D2337"/>
          </a:solidFill>
          <a:ln w="12700">
            <a:solidFill>
              <a:srgbClr val="24415F">
                <a:alpha val="9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72584" y="4261104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8FAFC"/>
                </a:solidFill>
              </a:rPr>
              <a:t>🧑‍💼 招聘信号</a:t>
            </a:r>
            <a:endParaRPr lang="en-US" sz="1240" dirty="0"/>
          </a:p>
        </p:txBody>
      </p:sp>
      <p:sp>
        <p:nvSpPr>
          <p:cNvPr id="35" name="Shape 33"/>
          <p:cNvSpPr/>
          <p:nvPr/>
        </p:nvSpPr>
        <p:spPr>
          <a:xfrm>
            <a:off x="8330184" y="4087368"/>
            <a:ext cx="3566160" cy="621792"/>
          </a:xfrm>
          <a:prstGeom prst="roundRect">
            <a:avLst>
              <a:gd name="adj" fmla="val 11765"/>
            </a:avLst>
          </a:prstGeom>
          <a:solidFill>
            <a:srgbClr val="102A3E"/>
          </a:solidFill>
          <a:ln w="12700">
            <a:solidFill>
              <a:srgbClr val="24415F">
                <a:alpha val="9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94776" y="4261104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8FAFC"/>
                </a:solidFill>
              </a:rPr>
              <a:t>💸 投融资/M&amp;A</a:t>
            </a:r>
            <a:endParaRPr lang="en-US" sz="1240" dirty="0"/>
          </a:p>
        </p:txBody>
      </p:sp>
      <p:sp>
        <p:nvSpPr>
          <p:cNvPr id="37" name="Shape 35"/>
          <p:cNvSpPr/>
          <p:nvPr/>
        </p:nvSpPr>
        <p:spPr>
          <a:xfrm>
            <a:off x="685800" y="4800600"/>
            <a:ext cx="3566160" cy="621792"/>
          </a:xfrm>
          <a:prstGeom prst="roundRect">
            <a:avLst>
              <a:gd name="adj" fmla="val 11765"/>
            </a:avLst>
          </a:prstGeom>
          <a:solidFill>
            <a:srgbClr val="0D2337"/>
          </a:solidFill>
          <a:ln w="12700">
            <a:solidFill>
              <a:srgbClr val="24415F">
                <a:alpha val="9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0392" y="4974336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8FAFC"/>
                </a:solidFill>
              </a:rPr>
              <a:t>🧾 专利/技术布局</a:t>
            </a:r>
            <a:endParaRPr lang="en-US" sz="1240" dirty="0"/>
          </a:p>
        </p:txBody>
      </p:sp>
      <p:sp>
        <p:nvSpPr>
          <p:cNvPr id="39" name="Shape 37"/>
          <p:cNvSpPr/>
          <p:nvPr/>
        </p:nvSpPr>
        <p:spPr>
          <a:xfrm>
            <a:off x="4507992" y="4800600"/>
            <a:ext cx="3566160" cy="621792"/>
          </a:xfrm>
          <a:prstGeom prst="roundRect">
            <a:avLst>
              <a:gd name="adj" fmla="val 11765"/>
            </a:avLst>
          </a:prstGeom>
          <a:solidFill>
            <a:srgbClr val="102A3E"/>
          </a:solidFill>
          <a:ln w="12700">
            <a:solidFill>
              <a:srgbClr val="24415F">
                <a:alpha val="9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72584" y="4974336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8FAFC"/>
                </a:solidFill>
              </a:rPr>
              <a:t>🏭 企业案例</a:t>
            </a:r>
            <a:endParaRPr lang="en-US" sz="1240" dirty="0"/>
          </a:p>
        </p:txBody>
      </p:sp>
      <p:sp>
        <p:nvSpPr>
          <p:cNvPr id="41" name="Shape 39"/>
          <p:cNvSpPr/>
          <p:nvPr/>
        </p:nvSpPr>
        <p:spPr>
          <a:xfrm>
            <a:off x="8330184" y="4800600"/>
            <a:ext cx="3566160" cy="621792"/>
          </a:xfrm>
          <a:prstGeom prst="roundRect">
            <a:avLst>
              <a:gd name="adj" fmla="val 11765"/>
            </a:avLst>
          </a:prstGeom>
          <a:solidFill>
            <a:srgbClr val="0D2337"/>
          </a:solidFill>
          <a:ln w="12700">
            <a:solidFill>
              <a:srgbClr val="24415F">
                <a:alpha val="9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94776" y="4974336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8FAFC"/>
                </a:solidFill>
              </a:rPr>
              <a:t>🛡️ 安全/事故</a:t>
            </a:r>
            <a:endParaRPr lang="en-US" sz="1240" dirty="0"/>
          </a:p>
        </p:txBody>
      </p:sp>
      <p:sp>
        <p:nvSpPr>
          <p:cNvPr id="43" name="Shape 41"/>
          <p:cNvSpPr/>
          <p:nvPr/>
        </p:nvSpPr>
        <p:spPr>
          <a:xfrm>
            <a:off x="822960" y="5623560"/>
            <a:ext cx="10561320" cy="502920"/>
          </a:xfrm>
          <a:prstGeom prst="roundRect">
            <a:avLst>
              <a:gd name="adj" fmla="val 14545"/>
            </a:avLst>
          </a:prstGeom>
          <a:solidFill>
            <a:srgbClr val="0A2830"/>
          </a:solidFill>
          <a:ln w="12700">
            <a:solidFill>
              <a:srgbClr val="FBBF24">
                <a:alpha val="9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60120" y="5760720"/>
            <a:ext cx="10287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第一阶段只做其中 4–5 类：官方公告、研究博客、Docs/Pricing、Benchmark、人工 URL。其他入口先进入候选池。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CA3B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823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产品能力架构：从入口到洞察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589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把“全球信息获取能力”拆成可复用模块，而不是写成单一爬虫。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11247120" cy="0"/>
          </a:xfrm>
          <a:prstGeom prst="line">
            <a:avLst/>
          </a:prstGeom>
          <a:noFill/>
          <a:ln w="12700">
            <a:solidFill>
              <a:srgbClr val="24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55480" y="347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2C8"/>
                </a:solidFill>
              </a:rPr>
              <a:t>Architecture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1664208" cy="2926080"/>
          </a:xfrm>
          <a:prstGeom prst="roundRect">
            <a:avLst>
              <a:gd name="adj" fmla="val 4396"/>
            </a:avLst>
          </a:prstGeom>
          <a:solidFill>
            <a:srgbClr val="0B2B3A"/>
          </a:solidFill>
          <a:ln w="12700">
            <a:solidFill>
              <a:srgbClr val="60A5FA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3736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8FAFC"/>
                </a:solidFill>
              </a:rPr>
              <a:t>Source Registry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521208" y="2331720"/>
            <a:ext cx="144475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DCE7F3"/>
                </a:solidFill>
              </a:rPr>
              <a:t>来源库</a:t>
            </a:r>
            <a:endParaRPr lang="en-US" sz="980" dirty="0"/>
          </a:p>
          <a:p>
            <a:pPr algn="ctr" indent="0" marL="0">
              <a:buNone/>
            </a:pPr>
            <a:r>
              <a:rPr lang="en-US" sz="980" dirty="0">
                <a:solidFill>
                  <a:srgbClr val="DCE7F3"/>
                </a:solidFill>
              </a:rPr>
              <a:t>官网 / Docs / 榜单 / 报告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1965960" y="2560320"/>
            <a:ext cx="347472" cy="502920"/>
          </a:xfrm>
          <a:prstGeom prst="chevron">
            <a:avLst/>
          </a:prstGeom>
          <a:solidFill>
            <a:srgbClr val="22D3EE">
              <a:alpha val="55000"/>
            </a:srgbClr>
          </a:solidFill>
          <a:ln w="12700">
            <a:solidFill>
              <a:srgbClr val="22D3EE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31720" y="1508760"/>
            <a:ext cx="1664208" cy="2926080"/>
          </a:xfrm>
          <a:prstGeom prst="roundRect">
            <a:avLst>
              <a:gd name="adj" fmla="val 4396"/>
            </a:avLst>
          </a:prstGeom>
          <a:solidFill>
            <a:srgbClr val="0F243B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173736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8FAFC"/>
                </a:solidFill>
              </a:rPr>
              <a:t>Fetch Strategy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2441448" y="2331720"/>
            <a:ext cx="144475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DCE7F3"/>
                </a:solidFill>
              </a:rPr>
              <a:t>RSS / HTML / sitemap / API / diff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3886200" y="2560320"/>
            <a:ext cx="347472" cy="502920"/>
          </a:xfrm>
          <a:prstGeom prst="chevron">
            <a:avLst/>
          </a:prstGeom>
          <a:solidFill>
            <a:srgbClr val="22D3EE">
              <a:alpha val="55000"/>
            </a:srgbClr>
          </a:solidFill>
          <a:ln w="12700">
            <a:solidFill>
              <a:srgbClr val="22D3EE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51960" y="1508760"/>
            <a:ext cx="1664208" cy="2926080"/>
          </a:xfrm>
          <a:prstGeom prst="roundRect">
            <a:avLst>
              <a:gd name="adj" fmla="val 4396"/>
            </a:avLst>
          </a:prstGeom>
          <a:solidFill>
            <a:srgbClr val="0B2B3A"/>
          </a:solidFill>
          <a:ln w="1270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173736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8FAFC"/>
                </a:solidFill>
              </a:rPr>
              <a:t>Normalize &amp; Dedup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4361688" y="2331720"/>
            <a:ext cx="144475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DCE7F3"/>
                </a:solidFill>
              </a:rPr>
              <a:t>URL 归一</a:t>
            </a:r>
            <a:endParaRPr lang="en-US" sz="980" dirty="0"/>
          </a:p>
          <a:p>
            <a:pPr algn="ctr" indent="0" marL="0">
              <a:buNone/>
            </a:pPr>
            <a:r>
              <a:rPr lang="en-US" sz="980" dirty="0">
                <a:solidFill>
                  <a:srgbClr val="DCE7F3"/>
                </a:solidFill>
              </a:rPr>
              <a:t>去重 / 可信度 / 健康状态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5806440" y="2560320"/>
            <a:ext cx="347472" cy="502920"/>
          </a:xfrm>
          <a:prstGeom prst="chevron">
            <a:avLst/>
          </a:prstGeom>
          <a:solidFill>
            <a:srgbClr val="22D3EE">
              <a:alpha val="55000"/>
            </a:srgbClr>
          </a:solidFill>
          <a:ln w="12700">
            <a:solidFill>
              <a:srgbClr val="22D3EE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1508760"/>
            <a:ext cx="1664208" cy="2926080"/>
          </a:xfrm>
          <a:prstGeom prst="roundRect">
            <a:avLst>
              <a:gd name="adj" fmla="val 4396"/>
            </a:avLst>
          </a:prstGeom>
          <a:solidFill>
            <a:srgbClr val="0F243B"/>
          </a:solidFill>
          <a:ln w="12700">
            <a:solidFill>
              <a:srgbClr val="A78BFA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73736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8FAFC"/>
                </a:solidFill>
              </a:rPr>
              <a:t>Signal Extraction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6281928" y="2331720"/>
            <a:ext cx="144475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DCE7F3"/>
                </a:solidFill>
              </a:rPr>
              <a:t>发布 / 能力 / 价格 / 榜单 / 风险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7726680" y="2560320"/>
            <a:ext cx="347472" cy="502920"/>
          </a:xfrm>
          <a:prstGeom prst="chevron">
            <a:avLst/>
          </a:prstGeom>
          <a:solidFill>
            <a:srgbClr val="22D3EE">
              <a:alpha val="55000"/>
            </a:srgbClr>
          </a:solidFill>
          <a:ln w="12700">
            <a:solidFill>
              <a:srgbClr val="22D3EE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92440" y="1508760"/>
            <a:ext cx="1664208" cy="2926080"/>
          </a:xfrm>
          <a:prstGeom prst="roundRect">
            <a:avLst>
              <a:gd name="adj" fmla="val 4396"/>
            </a:avLst>
          </a:prstGeom>
          <a:solidFill>
            <a:srgbClr val="0B2B3A"/>
          </a:solidFill>
          <a:ln w="12700">
            <a:solidFill>
              <a:srgbClr val="FBBF24">
                <a:alpha val="9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83880" y="173736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8FAFC"/>
                </a:solidFill>
              </a:rPr>
              <a:t>Insight Compile</a:t>
            </a:r>
            <a:endParaRPr lang="en-US" sz="1180" dirty="0"/>
          </a:p>
        </p:txBody>
      </p:sp>
      <p:sp>
        <p:nvSpPr>
          <p:cNvPr id="25" name="Text 23"/>
          <p:cNvSpPr/>
          <p:nvPr/>
        </p:nvSpPr>
        <p:spPr>
          <a:xfrm>
            <a:off x="8202168" y="2331720"/>
            <a:ext cx="144475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DCE7F3"/>
                </a:solidFill>
              </a:rPr>
              <a:t>中文摘要</a:t>
            </a:r>
            <a:endParaRPr lang="en-US" sz="980" dirty="0"/>
          </a:p>
          <a:p>
            <a:pPr algn="ctr" indent="0" marL="0">
              <a:buNone/>
            </a:pPr>
            <a:r>
              <a:rPr lang="en-US" sz="980" dirty="0">
                <a:solidFill>
                  <a:srgbClr val="DCE7F3"/>
                </a:solidFill>
              </a:rPr>
              <a:t>相关性 / 机会 / 行动建议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9646920" y="2560320"/>
            <a:ext cx="347472" cy="502920"/>
          </a:xfrm>
          <a:prstGeom prst="chevron">
            <a:avLst/>
          </a:prstGeom>
          <a:solidFill>
            <a:srgbClr val="22D3EE">
              <a:alpha val="55000"/>
            </a:srgbClr>
          </a:solidFill>
          <a:ln w="12700">
            <a:solidFill>
              <a:srgbClr val="22D3EE">
                <a:alpha val="2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12680" y="1508760"/>
            <a:ext cx="1664208" cy="2926080"/>
          </a:xfrm>
          <a:prstGeom prst="roundRect">
            <a:avLst>
              <a:gd name="adj" fmla="val 4396"/>
            </a:avLst>
          </a:prstGeom>
          <a:solidFill>
            <a:srgbClr val="0F243B"/>
          </a:solidFill>
          <a:ln w="12700">
            <a:solidFill>
              <a:srgbClr val="FB7185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104120" y="173736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8FAFC"/>
                </a:solidFill>
              </a:rPr>
              <a:t>Output</a:t>
            </a:r>
            <a:endParaRPr lang="en-US" sz="1180" dirty="0"/>
          </a:p>
        </p:txBody>
      </p:sp>
      <p:sp>
        <p:nvSpPr>
          <p:cNvPr id="29" name="Text 27"/>
          <p:cNvSpPr/>
          <p:nvPr/>
        </p:nvSpPr>
        <p:spPr>
          <a:xfrm>
            <a:off x="10122408" y="2331720"/>
            <a:ext cx="144475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DCE7F3"/>
                </a:solidFill>
              </a:rPr>
              <a:t>今日雷达</a:t>
            </a:r>
            <a:endParaRPr lang="en-US" sz="980" dirty="0"/>
          </a:p>
          <a:p>
            <a:pPr algn="ctr" indent="0" marL="0">
              <a:buNone/>
            </a:pPr>
            <a:r>
              <a:rPr lang="en-US" sz="980" dirty="0">
                <a:solidFill>
                  <a:srgbClr val="DCE7F3"/>
                </a:solidFill>
              </a:rPr>
              <a:t>日报 / 周报 / 洞察卡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914400" y="4800600"/>
            <a:ext cx="10332720" cy="246888"/>
          </a:xfrm>
          <a:prstGeom prst="rect">
            <a:avLst/>
          </a:prstGeom>
          <a:solidFill>
            <a:srgbClr val="11324D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4850892"/>
            <a:ext cx="1920240" cy="1737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</a:t>
            </a:r>
            <a:endParaRPr lang="en-US" sz="890" dirty="0"/>
          </a:p>
        </p:txBody>
      </p:sp>
      <p:sp>
        <p:nvSpPr>
          <p:cNvPr id="32" name="Shape 30"/>
          <p:cNvSpPr/>
          <p:nvPr/>
        </p:nvSpPr>
        <p:spPr>
          <a:xfrm>
            <a:off x="2926080" y="4800600"/>
            <a:ext cx="0" cy="246888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71800" y="4850892"/>
            <a:ext cx="8229600" cy="1737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关键治理点</a:t>
            </a:r>
            <a:endParaRPr lang="en-US" sz="890" dirty="0"/>
          </a:p>
        </p:txBody>
      </p:sp>
      <p:sp>
        <p:nvSpPr>
          <p:cNvPr id="34" name="Shape 32"/>
          <p:cNvSpPr/>
          <p:nvPr/>
        </p:nvSpPr>
        <p:spPr>
          <a:xfrm>
            <a:off x="914400" y="5047488"/>
            <a:ext cx="10332720" cy="246888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0120" y="5097780"/>
            <a:ext cx="1920240" cy="1737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2926080" y="5047488"/>
            <a:ext cx="0" cy="246888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71800" y="5097780"/>
            <a:ext cx="8229600" cy="1737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来源类型、权威等级、稳定性、获取频率、入口 URL</a:t>
            </a:r>
            <a:endParaRPr lang="en-US" sz="860" dirty="0"/>
          </a:p>
        </p:txBody>
      </p:sp>
      <p:sp>
        <p:nvSpPr>
          <p:cNvPr id="38" name="Shape 36"/>
          <p:cNvSpPr/>
          <p:nvPr/>
        </p:nvSpPr>
        <p:spPr>
          <a:xfrm>
            <a:off x="914400" y="5294376"/>
            <a:ext cx="10332720" cy="246888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0120" y="5344668"/>
            <a:ext cx="1920240" cy="1737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FetchRun</a:t>
            </a:r>
            <a:endParaRPr lang="en-US" sz="860" dirty="0"/>
          </a:p>
        </p:txBody>
      </p:sp>
      <p:sp>
        <p:nvSpPr>
          <p:cNvPr id="40" name="Shape 38"/>
          <p:cNvSpPr/>
          <p:nvPr/>
        </p:nvSpPr>
        <p:spPr>
          <a:xfrm>
            <a:off x="2926080" y="5294376"/>
            <a:ext cx="0" cy="246888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71800" y="5344668"/>
            <a:ext cx="8229600" cy="1737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found / new / updated / failed、错误类型、运行耗时</a:t>
            </a:r>
            <a:endParaRPr lang="en-US" sz="860" dirty="0"/>
          </a:p>
        </p:txBody>
      </p:sp>
      <p:sp>
        <p:nvSpPr>
          <p:cNvPr id="42" name="Shape 40"/>
          <p:cNvSpPr/>
          <p:nvPr/>
        </p:nvSpPr>
        <p:spPr>
          <a:xfrm>
            <a:off x="914400" y="5541264"/>
            <a:ext cx="10332720" cy="246888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" y="5591556"/>
            <a:ext cx="1920240" cy="1737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SourceItem</a:t>
            </a:r>
            <a:endParaRPr lang="en-US" sz="860" dirty="0"/>
          </a:p>
        </p:txBody>
      </p:sp>
      <p:sp>
        <p:nvSpPr>
          <p:cNvPr id="44" name="Shape 42"/>
          <p:cNvSpPr/>
          <p:nvPr/>
        </p:nvSpPr>
        <p:spPr>
          <a:xfrm>
            <a:off x="2926080" y="5541264"/>
            <a:ext cx="0" cy="246888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71800" y="5591556"/>
            <a:ext cx="8229600" cy="1737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canonical_url、first_seen_at、summary_status、insight_status</a:t>
            </a:r>
            <a:endParaRPr lang="en-US" sz="860" dirty="0"/>
          </a:p>
        </p:txBody>
      </p:sp>
      <p:sp>
        <p:nvSpPr>
          <p:cNvPr id="46" name="Shape 44"/>
          <p:cNvSpPr/>
          <p:nvPr/>
        </p:nvSpPr>
        <p:spPr>
          <a:xfrm>
            <a:off x="914400" y="5788152"/>
            <a:ext cx="10332720" cy="246888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60120" y="5838444"/>
            <a:ext cx="1920240" cy="1737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InsightCard</a:t>
            </a:r>
            <a:endParaRPr lang="en-US" sz="860" dirty="0"/>
          </a:p>
        </p:txBody>
      </p:sp>
      <p:sp>
        <p:nvSpPr>
          <p:cNvPr id="48" name="Shape 46"/>
          <p:cNvSpPr/>
          <p:nvPr/>
        </p:nvSpPr>
        <p:spPr>
          <a:xfrm>
            <a:off x="2926080" y="5788152"/>
            <a:ext cx="0" cy="246888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71800" y="5838444"/>
            <a:ext cx="8229600" cy="1737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事实、原文观点、模型推断、个人建议分离</a:t>
            </a:r>
            <a:endParaRPr lang="en-US" sz="8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CA3B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823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入口一：官方公告 / 模型公司官网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589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用于确认“事实是否发生”：模型发布、产品公告、安全声明、企业合作。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11247120" cy="0"/>
          </a:xfrm>
          <a:prstGeom prst="line">
            <a:avLst/>
          </a:prstGeom>
          <a:noFill/>
          <a:ln w="12700">
            <a:solidFill>
              <a:srgbClr val="24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55480" y="347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2C8"/>
                </a:solidFill>
              </a:rPr>
              <a:t>Source catalog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11480" y="1207008"/>
            <a:ext cx="11384280" cy="560070"/>
          </a:xfrm>
          <a:prstGeom prst="rect">
            <a:avLst/>
          </a:prstGeom>
          <a:solidFill>
            <a:srgbClr val="11324D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5730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图标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914400" y="120700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25730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3063240" y="120700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25730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建议入口 URL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6492240" y="120700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25730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8686800" y="120700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32520" y="125730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获取策略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411480" y="1767078"/>
            <a:ext cx="11384280" cy="56007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81737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🏢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14400" y="176707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181737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063240" y="176707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0" y="181737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https://openai.com/news/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https://openai.com/news/rss.xml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492240" y="176707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181737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模型/产品/API/Agent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686800" y="176707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32520" y="181737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RSS 优先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11480" y="2327148"/>
            <a:ext cx="11384280" cy="560070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37744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🏢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914400" y="232714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237744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063240" y="232714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8960" y="237744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https://www.anthropic.com/news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492240" y="232714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237744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/ Safety / Agent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686800" y="232714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32520" y="237744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 / changelog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11480" y="2887218"/>
            <a:ext cx="11384280" cy="56007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293751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🏢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914400" y="288721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0120" y="293751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DeepMind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063240" y="288721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08960" y="293751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https://deepmind.google/discover/blog/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https://deepmind.google/discover/blog/feed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492240" y="288721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37960" y="293751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Gemini / AI for Science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8686800" y="288721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32520" y="293751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RSS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11480" y="3447288"/>
            <a:ext cx="11384280" cy="560070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349758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🏢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914400" y="344728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60120" y="349758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xAI / Grok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063240" y="344728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108960" y="349758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https://x.ai/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https://docs.x.ai/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492240" y="344728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37960" y="349758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Grok 模型/API/产品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8686800" y="344728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732520" y="349758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 / Docs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11480" y="4007358"/>
            <a:ext cx="11384280" cy="56007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05765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🏢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914400" y="400735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60120" y="405765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AI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063240" y="400735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108960" y="405765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https://ai.meta.com/blog/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492240" y="400735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37960" y="405765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Llama / SAM / 多模态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8686800" y="400735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732520" y="405765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 fallback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11480" y="4567428"/>
            <a:ext cx="11384280" cy="560070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461772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🏢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914400" y="456742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60120" y="461772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AI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3063240" y="456742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108960" y="461772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https://news.microsoft.com/source/topics/ai/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492240" y="456742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537960" y="461772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Copilot / Azure AI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8686800" y="456742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732520" y="461772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 fallback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11480" y="5127498"/>
            <a:ext cx="11384280" cy="56007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57200" y="517779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🏢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914400" y="512749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60120" y="517779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 AI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3063240" y="512749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108960" y="517779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https://blogs.nvidia.com/blog/category/generative-ai/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https://blogs.nvidia.com/blog/category/generative-ai/feed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6492240" y="512749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537960" y="517779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/ Agentic AI / Robotics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8686800" y="512749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732520" y="517779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RSS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685800" y="5806440"/>
            <a:ext cx="10835640" cy="411480"/>
          </a:xfrm>
          <a:prstGeom prst="roundRect">
            <a:avLst>
              <a:gd name="adj" fmla="val 17778"/>
            </a:avLst>
          </a:prstGeom>
          <a:solidFill>
            <a:srgbClr val="0A2830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22960" y="5943600"/>
            <a:ext cx="105613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第一版 P0：官方消息是最高可信事实源，但不保证每家都有稳定 RSS。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CA3B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823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入口一扩展：模型公司与区域来源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589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用于补齐全球 AI 前沿公司版图，尤其是中国、日本、欧洲和基础设施厂商。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11247120" cy="0"/>
          </a:xfrm>
          <a:prstGeom prst="line">
            <a:avLst/>
          </a:prstGeom>
          <a:noFill/>
          <a:ln w="12700">
            <a:solidFill>
              <a:srgbClr val="24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55480" y="347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2C8"/>
                </a:solidFill>
              </a:rPr>
              <a:t>Source catalog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11480" y="1207008"/>
            <a:ext cx="11384280" cy="560070"/>
          </a:xfrm>
          <a:prstGeom prst="rect">
            <a:avLst/>
          </a:prstGeom>
          <a:solidFill>
            <a:srgbClr val="11324D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5730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图标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914400" y="120700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25730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3063240" y="120700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25730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建议入口 URL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6492240" y="120700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25730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8686800" y="120700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32520" y="125730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获取策略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411480" y="1767078"/>
            <a:ext cx="11384280" cy="56007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81737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🏢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14400" y="176707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181737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Mistral AI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063240" y="176707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0" y="181737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https://mistral.ai/news/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https://docs.mistral.ai/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492240" y="176707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181737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欧洲模型/企业 API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686800" y="176707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32520" y="181737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 / Docs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11480" y="2327148"/>
            <a:ext cx="11384280" cy="560070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37744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🏢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914400" y="232714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237744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Cohere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063240" y="232714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8960" y="237744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https://cohere.com/blog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https://docs.cohere.com/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492240" y="232714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237744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 RAG / Command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686800" y="232714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32520" y="237744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 / Docs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11480" y="2887218"/>
            <a:ext cx="11384280" cy="56007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293751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🏢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914400" y="288721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0120" y="293751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063240" y="288721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08960" y="293751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https://www.deepseek.com/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https://api-docs.deepseek.com/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492240" y="288721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37960" y="293751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开源/推理/低价 API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8686800" y="288721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32520" y="293751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Docs / 手动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11480" y="3447288"/>
            <a:ext cx="11384280" cy="560070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349758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🏢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914400" y="344728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60120" y="349758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Alibaba Qwen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063240" y="344728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108960" y="349758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https://qwenlm.github.io/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https://help.aliyun.com/zh/model-studio/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492240" y="344728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37960" y="349758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开源模型/通义 API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8686800" y="344728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732520" y="349758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Docs / GitHub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11480" y="4007358"/>
            <a:ext cx="11384280" cy="56007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05765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🏢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914400" y="400735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60120" y="405765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MiniMax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063240" y="400735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108960" y="405765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https://www.minimaxi.com/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https://platform.minimaxi.com/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492240" y="400735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37960" y="405765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TTS/音乐/视频/多模态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8686800" y="400735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732520" y="405765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Docs / 官方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11480" y="4567428"/>
            <a:ext cx="11384280" cy="560070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461772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🏢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914400" y="456742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60120" y="461772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Zhipu AI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3063240" y="456742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108960" y="461772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https://www.zhipuai.cn/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https://open.bigmodel.cn/dev/api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492240" y="456742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537960" y="461772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GLM / 国内模型 API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8686800" y="456742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732520" y="461772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Docs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11480" y="5127498"/>
            <a:ext cx="11384280" cy="56007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57200" y="517779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🏢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914400" y="512749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60120" y="517779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Sakana AI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3063240" y="512749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108960" y="517779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https://sakana.ai/research/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6492240" y="512749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537960" y="517779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日本研究/进化算法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8686800" y="512749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732520" y="517779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Blog / research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685800" y="5806440"/>
            <a:ext cx="10835640" cy="411480"/>
          </a:xfrm>
          <a:prstGeom prst="roundRect">
            <a:avLst>
              <a:gd name="adj" fmla="val 17778"/>
            </a:avLst>
          </a:prstGeom>
          <a:solidFill>
            <a:srgbClr val="0A2830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22960" y="5943600"/>
            <a:ext cx="105613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这些来源可进入 V1.1 候选池，逐项验证稳定性和是否有 RSS / Docs / changelog。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CA3B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823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入口二：API / Docs / Changelog / Pricing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589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用于捕捉“开发者可用能力”变化：模型列表、参数、上下文、价格、限额。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11247120" cy="0"/>
          </a:xfrm>
          <a:prstGeom prst="line">
            <a:avLst/>
          </a:prstGeom>
          <a:noFill/>
          <a:ln w="12700">
            <a:solidFill>
              <a:srgbClr val="24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55480" y="347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2C8"/>
                </a:solidFill>
              </a:rPr>
              <a:t>Source catalog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11480" y="1207008"/>
            <a:ext cx="11384280" cy="560070"/>
          </a:xfrm>
          <a:prstGeom prst="rect">
            <a:avLst/>
          </a:prstGeom>
          <a:solidFill>
            <a:srgbClr val="11324D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5730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图标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914400" y="120700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25730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3063240" y="120700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25730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建议入口 URL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6492240" y="120700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25730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8686800" y="120700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32520" y="125730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获取策略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411480" y="1767078"/>
            <a:ext cx="11384280" cy="56007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81737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📚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14400" y="176707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181737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Docs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063240" y="176707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0" y="181737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https://platform.openai.com/docs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https://platform.openai.com/docs/models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https://openai.com/api/pricing/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492240" y="176707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181737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模型/API/价格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686800" y="176707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32520" y="181737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Docs diff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11480" y="2327148"/>
            <a:ext cx="11384280" cy="560070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37744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📚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914400" y="232714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237744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 Docs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063240" y="232714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8960" y="237744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https://docs.anthropic.com/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https://docs.anthropic.com/en/docs/about-claude/models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492240" y="232714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237744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模型/工具/价格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686800" y="232714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32520" y="237744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Docs diff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11480" y="2887218"/>
            <a:ext cx="11384280" cy="56007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293751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📚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914400" y="288721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0120" y="293751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Gemini API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063240" y="288721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08960" y="293751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https://ai.google.dev/gemini-api/docs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https://ai.google.dev/pricing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492240" y="288721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37960" y="293751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Gemini API/价格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8686800" y="288721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32520" y="293751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Docs diff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11480" y="3447288"/>
            <a:ext cx="11384280" cy="560070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349758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📚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914400" y="344728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60120" y="349758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xAI Docs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063240" y="344728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108960" y="349758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https://docs.x.ai/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492240" y="344728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37960" y="349758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Grok API/模型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8686800" y="344728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732520" y="349758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Docs diff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11480" y="4007358"/>
            <a:ext cx="11384280" cy="56007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05765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📚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914400" y="400735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60120" y="405765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Mistral Docs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063240" y="400735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108960" y="405765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https://docs.mistral.ai/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https://mistral.ai/technology/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492240" y="400735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37960" y="405765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模型/API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8686800" y="400735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732520" y="405765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Docs diff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11480" y="4567428"/>
            <a:ext cx="11384280" cy="560070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461772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💰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914400" y="456742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60120" y="461772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Together/Groq/Fireworks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3063240" y="456742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108960" y="461772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https://docs.together.ai/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https://console.groq.com/docs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https://docs.fireworks.ai/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492240" y="456742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537960" y="461772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推理服务/价格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8686800" y="456742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732520" y="461772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Docs+Pricing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11480" y="5127498"/>
            <a:ext cx="11384280" cy="56007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57200" y="517779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💰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914400" y="512749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60120" y="517779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Replicate/HF Inference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3063240" y="512749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108960" y="517779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https://replicate.com/pricing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https://huggingface.co/pricing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6492240" y="512749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537960" y="517779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模型部署成本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8686800" y="512749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732520" y="517779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Pricing diff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685800" y="5806440"/>
            <a:ext cx="10835640" cy="411480"/>
          </a:xfrm>
          <a:prstGeom prst="roundRect">
            <a:avLst>
              <a:gd name="adj" fmla="val 17778"/>
            </a:avLst>
          </a:prstGeom>
          <a:solidFill>
            <a:srgbClr val="0A2830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22960" y="5943600"/>
            <a:ext cx="105613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这类入口对独立开发者价值最高：它直接影响“能不能用、成本多少、产品方案是否成立”。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CA3B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823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 入口三：Benchmark / Leaderboard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589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用于验证“模型是否真的变强”：官方说法之外的外部能力信号。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11247120" cy="0"/>
          </a:xfrm>
          <a:prstGeom prst="line">
            <a:avLst/>
          </a:prstGeom>
          <a:noFill/>
          <a:ln w="12700">
            <a:solidFill>
              <a:srgbClr val="24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55480" y="347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2C8"/>
                </a:solidFill>
              </a:rPr>
              <a:t>Source catalog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11480" y="1207008"/>
            <a:ext cx="11384280" cy="560070"/>
          </a:xfrm>
          <a:prstGeom prst="rect">
            <a:avLst/>
          </a:prstGeom>
          <a:solidFill>
            <a:srgbClr val="11324D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5730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图标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914400" y="120700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25730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3063240" y="120700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25730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建议入口 URL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6492240" y="120700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25730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8686800" y="120700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32520" y="125730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获取策略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411480" y="1767078"/>
            <a:ext cx="11384280" cy="56007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81737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🏆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14400" y="176707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181737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Chatbot Arena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063240" y="176707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0" y="181737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https://lmarena.ai/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https://huggingface.co/spaces/lmarena-ai/chatbot-arena-leaderboard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492240" y="176707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181737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对战胜率/用户偏好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686800" y="176707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32520" y="181737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结构化抓取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11480" y="2327148"/>
            <a:ext cx="11384280" cy="560070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37744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🏆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914400" y="232714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237744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Artificial Analysis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063240" y="232714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8960" y="237744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https://artificialanalysis.ai/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492240" y="232714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237744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质量/速度/价格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686800" y="232714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32520" y="237744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榜单对比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11480" y="2887218"/>
            <a:ext cx="11384280" cy="56007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293751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🏆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914400" y="288721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0120" y="293751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SWE-bench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063240" y="288721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08960" y="293751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https://www.swebench.com/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492240" y="288721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37960" y="293751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 Agent 能力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8686800" y="288721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32520" y="293751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榜单 diff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11480" y="3447288"/>
            <a:ext cx="11384280" cy="560070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349758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🏆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914400" y="344728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60120" y="349758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LiveCodeBench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063240" y="344728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108960" y="349758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https://livecodebench.github.io/leaderboard.html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492240" y="344728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37960" y="349758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代码推理能力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8686800" y="344728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732520" y="349758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榜单抓取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11480" y="4007358"/>
            <a:ext cx="11384280" cy="56007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05765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🏆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914400" y="400735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60120" y="405765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HELM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063240" y="400735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108960" y="405765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https://crfm.stanford.edu/helm/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492240" y="400735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37960" y="405765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多维评测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8686800" y="400735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732520" y="405765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低频监测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11480" y="4567428"/>
            <a:ext cx="11384280" cy="560070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461772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🏆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914400" y="456742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60120" y="461772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 LLM Leaderboard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3063240" y="456742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108960" y="461772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https://huggingface.co/spaces/open-llm-leaderboard/open_llm_leaderboard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492240" y="456742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537960" y="461772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开源模型排名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8686800" y="456742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732520" y="461772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榜单抓取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11480" y="5127498"/>
            <a:ext cx="11384280" cy="56007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57200" y="517779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🏆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914400" y="512749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60120" y="517779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VBench / Video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3063240" y="512749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108960" y="517779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https://vchitect.github.io/VBench-project/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6492240" y="512749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537960" y="517779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视频生成质量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8686800" y="512749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732520" y="517779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专题监测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685800" y="5806440"/>
            <a:ext cx="10835640" cy="411480"/>
          </a:xfrm>
          <a:prstGeom prst="roundRect">
            <a:avLst>
              <a:gd name="adj" fmla="val 17778"/>
            </a:avLst>
          </a:prstGeom>
          <a:solidFill>
            <a:srgbClr val="0A2830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22960" y="5943600"/>
            <a:ext cx="105613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榜单不是最终事实源，而是“能力验证源”。要和官方公告、Docs、价格表交叉验证。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CA3B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823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 入口四：研究博客 / 技术博客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589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用于理解“为什么重要”：新方法、架构趋势、工程实践和技术机会。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11247120" cy="0"/>
          </a:xfrm>
          <a:prstGeom prst="line">
            <a:avLst/>
          </a:prstGeom>
          <a:noFill/>
          <a:ln w="12700">
            <a:solidFill>
              <a:srgbClr val="24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55480" y="347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2C8"/>
                </a:solidFill>
              </a:rPr>
              <a:t>Source catalog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11480" y="1207008"/>
            <a:ext cx="11384280" cy="560070"/>
          </a:xfrm>
          <a:prstGeom prst="rect">
            <a:avLst/>
          </a:prstGeom>
          <a:solidFill>
            <a:srgbClr val="11324D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5730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图标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914400" y="120700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25730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3063240" y="120700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25730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建议入口 URL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6492240" y="120700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25730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8686800" y="120700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32520" y="125730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获取策略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411480" y="1767078"/>
            <a:ext cx="11384280" cy="56007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81737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🧪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14400" y="176707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181737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Hugging Face Blog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063240" y="176707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0" y="181737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https://huggingface.co/blog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https://huggingface.co/blog/feed.xml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492240" y="176707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181737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开源模型/Transformers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686800" y="176707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32520" y="181737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RSS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11480" y="2327148"/>
            <a:ext cx="11384280" cy="560070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37744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🧪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914400" y="232714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237744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Berkeley BAIR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063240" y="232714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8960" y="237744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https://bair.berkeley.edu/blog/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https://bair.berkeley.edu/blog/feed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492240" y="232714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237744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Agent/机器人/推理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686800" y="232714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32520" y="237744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RSS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11480" y="2887218"/>
            <a:ext cx="11384280" cy="56007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293751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🧪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914400" y="288721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0120" y="293751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Stanford HAI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063240" y="288721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08960" y="293751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https://hai.stanford.edu/news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492240" y="288721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37960" y="293751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社会/政策/研究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8686800" y="288721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32520" y="293751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11480" y="3447288"/>
            <a:ext cx="11384280" cy="560070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349758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🧪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914400" y="344728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60120" y="349758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 News AI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063240" y="344728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108960" y="349758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https://news.mit.edu/topic/artificial-intelligence2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492240" y="344728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37960" y="349758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研究新闻/机器人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8686800" y="344728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732520" y="349758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11480" y="4007358"/>
            <a:ext cx="11384280" cy="56007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05765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🧪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914400" y="400735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60120" y="405765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Research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063240" y="400735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108960" y="405765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https://research.google/blog/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492240" y="400735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37960" y="405765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研究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8686800" y="400735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732520" y="405765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RSS/HTML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11480" y="4567428"/>
            <a:ext cx="11384280" cy="560070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461772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🧪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914400" y="456742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60120" y="461772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Research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3063240" y="456742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108960" y="461772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https://research.facebook.com/blog/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492240" y="456742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537960" y="461772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研究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8686800" y="456742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732520" y="461772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HTML/RSS 待验证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11480" y="5127498"/>
            <a:ext cx="11384280" cy="56007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57200" y="517779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🧪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914400" y="512749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60120" y="517779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Apple ML Research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3063240" y="512749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108960" y="517779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https://machinelearning.apple.com/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6492240" y="512749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537960" y="517779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端侧 AI/隐私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8686800" y="512749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732520" y="517779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685800" y="5806440"/>
            <a:ext cx="10835640" cy="411480"/>
          </a:xfrm>
          <a:prstGeom prst="roundRect">
            <a:avLst>
              <a:gd name="adj" fmla="val 17778"/>
            </a:avLst>
          </a:prstGeom>
          <a:solidFill>
            <a:srgbClr val="0A2830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22960" y="5943600"/>
            <a:ext cx="105613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技术博客适合生成“技术洞察卡”，不应和普通资讯同权重。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CA3B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823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 入口五：论文 / 学术源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589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用于捕捉早期研究趋势，但必须强过滤，不能全量进入日报。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11247120" cy="0"/>
          </a:xfrm>
          <a:prstGeom prst="line">
            <a:avLst/>
          </a:prstGeom>
          <a:noFill/>
          <a:ln w="12700">
            <a:solidFill>
              <a:srgbClr val="24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55480" y="347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2C8"/>
                </a:solidFill>
              </a:rPr>
              <a:t>Source catalog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11480" y="1207008"/>
            <a:ext cx="11384280" cy="560070"/>
          </a:xfrm>
          <a:prstGeom prst="rect">
            <a:avLst/>
          </a:prstGeom>
          <a:solidFill>
            <a:srgbClr val="11324D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5730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图标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914400" y="120700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25730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3063240" y="120700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25730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建议入口 URL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6492240" y="120700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25730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8686800" y="120700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32520" y="125730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获取策略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411480" y="1767078"/>
            <a:ext cx="11384280" cy="56007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81737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📄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14400" y="176707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181737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arXiv cs.AI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063240" y="176707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0" y="181737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https://export.arxiv.org/rss/cs.AI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https://arxiv.org/list/cs.AI/recent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492240" y="176707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181737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论文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686800" y="176707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32520" y="181737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RSS + 关键词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11480" y="2327148"/>
            <a:ext cx="11384280" cy="560070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37744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📄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914400" y="232714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237744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arXiv cs.CL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063240" y="232714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8960" y="237744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https://export.arxiv.org/rss/cs.CL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492240" y="232714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237744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LLM/NLP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686800" y="232714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32520" y="237744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RSS + 关键词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11480" y="2887218"/>
            <a:ext cx="11384280" cy="56007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293751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📄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914400" y="288721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0120" y="293751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arXiv cs.LG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063240" y="288721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08960" y="293751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https://export.arxiv.org/rss/cs.LG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492240" y="288721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37960" y="293751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机器学习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8686800" y="288721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32520" y="293751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RSS + 关键词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11480" y="3447288"/>
            <a:ext cx="11384280" cy="560070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349758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📄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914400" y="344728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60120" y="349758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OpenReview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063240" y="344728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108960" y="349758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https://openreview.net/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492240" y="344728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37960" y="349758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会议论文/评审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8686800" y="344728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732520" y="349758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检索/API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11480" y="4007358"/>
            <a:ext cx="11384280" cy="56007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05765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📄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914400" y="400735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60120" y="405765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Papers with Code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063240" y="400735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108960" y="405765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https://paperswithcode.com/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492240" y="400735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37960" y="405765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论文+代码+SOTA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8686800" y="400735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732520" y="405765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结构化抓取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11480" y="4567428"/>
            <a:ext cx="11384280" cy="560070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461772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📄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914400" y="456742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60120" y="461772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Semantic Scholar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3063240" y="456742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108960" y="461772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https://www.semanticscholar.org/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492240" y="456742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537960" y="461772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论文引用/主题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8686800" y="456742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732520" y="461772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11480" y="5127498"/>
            <a:ext cx="11384280" cy="56007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57200" y="517779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📄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914400" y="512749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60120" y="517779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ACL Anthology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3063240" y="512749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108960" y="517779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https://aclanthology.org/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6492240" y="512749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537960" y="517779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NLP/LLM 论文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8686800" y="512749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732520" y="517779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低频抓取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685800" y="5806440"/>
            <a:ext cx="10835640" cy="411480"/>
          </a:xfrm>
          <a:prstGeom prst="roundRect">
            <a:avLst>
              <a:gd name="adj" fmla="val 17778"/>
            </a:avLst>
          </a:prstGeom>
          <a:solidFill>
            <a:srgbClr val="0A2830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22960" y="5943600"/>
            <a:ext cx="105613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论文源噪音极高：只进入“研究雷达/周报”，不要直接占据每日主视图。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CA3B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823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 入口六：开源生态 / 模型与工具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589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用于发现“开发者现在能用什么”：框架、模型、库、部署工具、Release。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11247120" cy="0"/>
          </a:xfrm>
          <a:prstGeom prst="line">
            <a:avLst/>
          </a:prstGeom>
          <a:noFill/>
          <a:ln w="12700">
            <a:solidFill>
              <a:srgbClr val="24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55480" y="347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2C8"/>
                </a:solidFill>
              </a:rPr>
              <a:t>Source catalog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11480" y="1207008"/>
            <a:ext cx="11384280" cy="560070"/>
          </a:xfrm>
          <a:prstGeom prst="rect">
            <a:avLst/>
          </a:prstGeom>
          <a:solidFill>
            <a:srgbClr val="11324D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5730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图标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914400" y="120700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25730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3063240" y="120700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25730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建议入口 URL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6492240" y="120700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25730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8686800" y="120700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32520" y="125730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获取策略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411480" y="1767078"/>
            <a:ext cx="11384280" cy="56007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81737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🧰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14400" y="176707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181737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Trending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063240" y="176707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0" y="181737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https://github.com/trending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https://github.com/trending/python?since=daily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492240" y="176707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181737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新项目/热度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686800" y="176707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32520" y="181737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页面抓取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11480" y="2327148"/>
            <a:ext cx="11384280" cy="560070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37744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🧰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914400" y="232714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237744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Releases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063240" y="232714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8960" y="237744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https://github.com/{owner}/{repo}/releases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492240" y="232714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237744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框架版本更新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686800" y="232714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32520" y="237744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API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11480" y="2887218"/>
            <a:ext cx="11384280" cy="56007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293751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🧰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914400" y="288721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0120" y="293751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Hugging Face Models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063240" y="288721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08960" y="293751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https://huggingface.co/models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https://huggingface.co/papers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492240" y="288721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37960" y="293751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模型发布/论文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8686800" y="288721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32520" y="293751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页面/API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11480" y="3447288"/>
            <a:ext cx="11384280" cy="560070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349758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🧰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914400" y="344728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60120" y="349758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vLLM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063240" y="344728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108960" y="349758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https://github.com/vllm-project/vllm/releases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492240" y="344728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37960" y="349758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推理部署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8686800" y="344728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732520" y="349758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Release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11480" y="4007358"/>
            <a:ext cx="11384280" cy="56007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05765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🧰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914400" y="400735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60120" y="405765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Ollama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063240" y="400735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108960" y="405765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https://ollama.com/blog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https://github.com/ollama/ollama/releases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492240" y="400735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37960" y="405765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本地模型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8686800" y="400735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732520" y="405765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Blog+Release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11480" y="4567428"/>
            <a:ext cx="11384280" cy="560070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461772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🧰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914400" y="456742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60120" y="461772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Transformers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3063240" y="456742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108960" y="461772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https://github.com/huggingface/transformers/releases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492240" y="456742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537960" y="461772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模型库更新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8686800" y="456742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732520" y="461772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Release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11480" y="5127498"/>
            <a:ext cx="11384280" cy="56007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57200" y="517779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🧰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914400" y="512749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60120" y="517779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ComfyUI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3063240" y="512749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108960" y="517779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https://github.com/comfyanonymous/ComfyUI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6492240" y="512749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537960" y="517779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图像/视频工作流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8686800" y="512749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732520" y="517779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685800" y="5806440"/>
            <a:ext cx="10835640" cy="411480"/>
          </a:xfrm>
          <a:prstGeom prst="roundRect">
            <a:avLst>
              <a:gd name="adj" fmla="val 17778"/>
            </a:avLst>
          </a:prstGeom>
          <a:solidFill>
            <a:srgbClr val="0A2830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22960" y="5943600"/>
            <a:ext cx="105613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开源生态适合“工具机会卡”：能否落地、适合做什么产品、是否值得集成。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CA3B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823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 入口七：AI 编程 / Agent / RAG 产品生态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589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与你当前关注方向高度相关：AI 编程工具、多 Agent、知识库/RAG、文档理解。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11247120" cy="0"/>
          </a:xfrm>
          <a:prstGeom prst="line">
            <a:avLst/>
          </a:prstGeom>
          <a:noFill/>
          <a:ln w="12700">
            <a:solidFill>
              <a:srgbClr val="24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55480" y="347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2C8"/>
                </a:solidFill>
              </a:rPr>
              <a:t>Source catalog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11480" y="1207008"/>
            <a:ext cx="11384280" cy="560070"/>
          </a:xfrm>
          <a:prstGeom prst="rect">
            <a:avLst/>
          </a:prstGeom>
          <a:solidFill>
            <a:srgbClr val="11324D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5730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图标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914400" y="120700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25730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3063240" y="120700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25730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建议入口 URL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6492240" y="120700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25730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8686800" y="120700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32520" y="125730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获取策略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411480" y="1767078"/>
            <a:ext cx="11384280" cy="56007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81737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🧑‍💻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14400" y="176707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181737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Cursor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063240" y="176707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0" y="181737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https://www.cursor.com/changelog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492240" y="176707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181737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编程产品能力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686800" y="176707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32520" y="181737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Changelog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11480" y="2327148"/>
            <a:ext cx="11384280" cy="560070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37744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🧑‍💻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914400" y="232714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237744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Windsurf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063240" y="232714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8960" y="237744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https://windsurf.com/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492240" y="232714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237744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IDE/Agent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686800" y="232714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32520" y="237744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官网+更新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11480" y="2887218"/>
            <a:ext cx="11384280" cy="56007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293751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🧑‍💻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914400" y="288721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0120" y="293751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Codex / Agents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063240" y="288721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08960" y="293751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https://developers.openai.com/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492240" y="288721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37960" y="293751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Agent/开发者生态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8686800" y="288721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32520" y="293751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Docs/Blog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11480" y="3447288"/>
            <a:ext cx="11384280" cy="560070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349758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🧑‍💻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914400" y="344728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60120" y="349758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LangChain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063240" y="344728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108960" y="349758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https://blog.langchain.com/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https://changelog.langchain.com/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492240" y="344728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37960" y="349758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Agent/RAG 框架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8686800" y="344728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732520" y="349758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Blog/Changelog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11480" y="4007358"/>
            <a:ext cx="11384280" cy="56007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05765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🧑‍💻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914400" y="400735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60120" y="405765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LlamaIndex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063240" y="400735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108960" y="405765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https://www.llamaindex.ai/blog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492240" y="400735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37960" y="405765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RAG/文档理解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8686800" y="400735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732520" y="405765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Blog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11480" y="4567428"/>
            <a:ext cx="11384280" cy="560070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461772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🧑‍💻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914400" y="456742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60120" y="461772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CrewAI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3063240" y="456742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108960" y="461772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https://github.com/crewAIInc/crewAI/releases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492240" y="456742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537960" y="461772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框架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8686800" y="456742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732520" y="461772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Release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11480" y="5127498"/>
            <a:ext cx="11384280" cy="56007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57200" y="517779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🧑‍💻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914400" y="512749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60120" y="517779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AutoGen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3063240" y="512749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108960" y="517779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https://github.com/microsoft/autogen/releases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6492240" y="512749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537960" y="517779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框架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8686800" y="512749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732520" y="517779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Release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685800" y="5806440"/>
            <a:ext cx="10835640" cy="411480"/>
          </a:xfrm>
          <a:prstGeom prst="roundRect">
            <a:avLst>
              <a:gd name="adj" fmla="val 17778"/>
            </a:avLst>
          </a:prstGeom>
          <a:solidFill>
            <a:srgbClr val="0A2830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22960" y="5943600"/>
            <a:ext cx="105613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这类入口不只是新闻，更是“能力可用性”和“产品机会”来源。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CA3B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823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 入口八：多模态 / 视频 / 图像 / TTS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589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用于跟踪生成式多媒体能力：视频、图像、语音、音乐、数字人。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11247120" cy="0"/>
          </a:xfrm>
          <a:prstGeom prst="line">
            <a:avLst/>
          </a:prstGeom>
          <a:noFill/>
          <a:ln w="12700">
            <a:solidFill>
              <a:srgbClr val="24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55480" y="347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2C8"/>
                </a:solidFill>
              </a:rPr>
              <a:t>Source catalog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11480" y="1207008"/>
            <a:ext cx="11384280" cy="560070"/>
          </a:xfrm>
          <a:prstGeom prst="rect">
            <a:avLst/>
          </a:prstGeom>
          <a:solidFill>
            <a:srgbClr val="11324D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5730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图标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914400" y="120700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25730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3063240" y="120700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25730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建议入口 URL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6492240" y="120700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25730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8686800" y="120700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32520" y="125730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获取策略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411480" y="1767078"/>
            <a:ext cx="11384280" cy="56007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81737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🎬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14400" y="176707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181737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Runway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063240" y="176707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0" y="181737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https://runwayml.com/research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https://runwayml.com/blog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492240" y="176707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181737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视频生成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686800" y="176707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32520" y="181737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Blog/Research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11480" y="2327148"/>
            <a:ext cx="11384280" cy="560070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37744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🎬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914400" y="232714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237744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Pika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063240" y="232714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8960" y="237744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https://pika.art/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492240" y="232714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237744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视频生成产品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686800" y="232714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32520" y="237744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官网/公告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11480" y="2887218"/>
            <a:ext cx="11384280" cy="56007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293751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🎬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914400" y="288721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0120" y="293751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Luma AI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063240" y="288721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08960" y="293751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https://lumalabs.ai/dream-machine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492240" y="288721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37960" y="293751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视频/3D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8686800" y="288721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32520" y="293751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产品页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11480" y="3447288"/>
            <a:ext cx="11384280" cy="560070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349758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914400" y="344728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60120" y="349758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Black Forest Labs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063240" y="344728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108960" y="349758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https://blackforestlabs.ai/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492240" y="344728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37960" y="349758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图像模型/FLUX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8686800" y="344728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732520" y="349758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官网/Blog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11480" y="4007358"/>
            <a:ext cx="11384280" cy="56007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05765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914400" y="400735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60120" y="405765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Stability AI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063240" y="400735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108960" y="405765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https://stability.ai/news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492240" y="400735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37960" y="405765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图像/音频模型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8686800" y="400735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732520" y="405765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News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11480" y="4567428"/>
            <a:ext cx="11384280" cy="560070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461772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🔊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914400" y="456742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60120" y="461772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ElevenLabs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3063240" y="456742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108960" y="461772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https://elevenlabs.io/blog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492240" y="456742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537960" y="461772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TTS/语音/音频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8686800" y="456742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732520" y="461772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Blog/Docs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11480" y="5127498"/>
            <a:ext cx="11384280" cy="56007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57200" y="517779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🔊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914400" y="512749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60120" y="517779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MiniMax Audio/Video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3063240" y="512749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108960" y="517779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https://www.minimaxi.com/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https://platform.minimaxi.com/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6492240" y="512749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537960" y="517779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TTS/音乐/视频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8686800" y="512749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732520" y="517779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Docs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685800" y="5806440"/>
            <a:ext cx="10835640" cy="411480"/>
          </a:xfrm>
          <a:prstGeom prst="roundRect">
            <a:avLst>
              <a:gd name="adj" fmla="val 17778"/>
            </a:avLst>
          </a:prstGeom>
          <a:solidFill>
            <a:srgbClr val="0A2830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22960" y="5943600"/>
            <a:ext cx="105613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多模态入口适合做“能力矩阵”：质量、速度、价格、API 可用性、商用限制。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CA3B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823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 入口九：Newsletter / 二级聚合 / 产品发现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589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用于发现“别人已经筛过一次”的热点线索，再回溯原始来源验证。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11247120" cy="0"/>
          </a:xfrm>
          <a:prstGeom prst="line">
            <a:avLst/>
          </a:prstGeom>
          <a:noFill/>
          <a:ln w="12700">
            <a:solidFill>
              <a:srgbClr val="24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55480" y="347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2C8"/>
                </a:solidFill>
              </a:rPr>
              <a:t>Source catalog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11480" y="1207008"/>
            <a:ext cx="11384280" cy="560070"/>
          </a:xfrm>
          <a:prstGeom prst="rect">
            <a:avLst/>
          </a:prstGeom>
          <a:solidFill>
            <a:srgbClr val="11324D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5730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图标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914400" y="120700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25730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3063240" y="120700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25730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建议入口 URL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6492240" y="120700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25730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8686800" y="120700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32520" y="125730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获取策略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411480" y="1767078"/>
            <a:ext cx="11384280" cy="56007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81737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📰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14400" y="176707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181737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Batch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063240" y="176707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0" y="181737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https://www.deeplearning.ai/the-batch/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492240" y="176707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181737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周报/趋势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686800" y="176707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32520" y="181737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Newsletter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11480" y="2327148"/>
            <a:ext cx="11384280" cy="560070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37744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📰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914400" y="232714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237744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Import AI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063240" y="232714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8960" y="237744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https://importai.substack.com/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492240" y="232714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237744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研究/政策趋势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686800" y="232714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32520" y="237744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Newsletter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11480" y="2887218"/>
            <a:ext cx="11384280" cy="56007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293751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📰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914400" y="288721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0120" y="293751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Latent Space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063240" y="288721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08960" y="293751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https://www.latent.space/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492240" y="288721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37960" y="293751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工程/模型生态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8686800" y="288721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32520" y="293751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Newsletter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11480" y="3447288"/>
            <a:ext cx="11384280" cy="560070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349758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📰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914400" y="344728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60120" y="349758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TLDR AI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063240" y="344728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108960" y="349758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https://tldr.tech/ai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492240" y="344728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37960" y="349758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开发者新闻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8686800" y="344728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732520" y="349758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Newsletter/RSS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11480" y="4007358"/>
            <a:ext cx="11384280" cy="56007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05765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📰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914400" y="400735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60120" y="405765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Ben’s Bites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063240" y="400735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108960" y="405765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https://www.bensbites.co/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492240" y="400735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37960" y="405765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产品/热点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8686800" y="400735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732520" y="405765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Newsletter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11480" y="4567428"/>
            <a:ext cx="11384280" cy="560070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461772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🧪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914400" y="456742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60120" y="461772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 Hunt AI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3063240" y="456742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108960" y="461772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https://www.producthunt.com/topics/artificial-intelligence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492240" y="456742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537960" y="461772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 AI 产品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8686800" y="456742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732520" y="461772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页面抓取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11480" y="5127498"/>
            <a:ext cx="11384280" cy="56007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57200" y="517779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🧪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914400" y="512749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60120" y="517779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There’s An AI For That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3063240" y="512749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108960" y="517779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https://theresanaiforthat.com/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6492240" y="512749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537960" y="517779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工具目录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8686800" y="512749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732520" y="517779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页面/API 待验证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685800" y="5806440"/>
            <a:ext cx="10835640" cy="411480"/>
          </a:xfrm>
          <a:prstGeom prst="roundRect">
            <a:avLst>
              <a:gd name="adj" fmla="val 17778"/>
            </a:avLst>
          </a:prstGeom>
          <a:solidFill>
            <a:srgbClr val="0A2830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22960" y="5943600"/>
            <a:ext cx="105613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二级聚合不能直接作为最终事实源；适合发现候选，再追溯官方原文。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CA3B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823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16. 入口十：行业报告 / VC / 趋势研究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589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用于长周期判断：产业趋势、商业化、投资方向和产品机会。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11247120" cy="0"/>
          </a:xfrm>
          <a:prstGeom prst="line">
            <a:avLst/>
          </a:prstGeom>
          <a:noFill/>
          <a:ln w="12700">
            <a:solidFill>
              <a:srgbClr val="24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55480" y="347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2C8"/>
                </a:solidFill>
              </a:rPr>
              <a:t>Source catalog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11480" y="1207008"/>
            <a:ext cx="11384280" cy="560070"/>
          </a:xfrm>
          <a:prstGeom prst="rect">
            <a:avLst/>
          </a:prstGeom>
          <a:solidFill>
            <a:srgbClr val="11324D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5730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图标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914400" y="120700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25730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3063240" y="120700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25730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建议入口 URL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6492240" y="120700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25730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8686800" y="120700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32520" y="125730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获取策略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411480" y="1767078"/>
            <a:ext cx="11384280" cy="56007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81737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14400" y="176707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181737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Stanford AI Index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063240" y="176707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0" y="181737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https://aiindex.stanford.edu/report/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492240" y="176707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181737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 AI 趋势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686800" y="176707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32520" y="181737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PDF/报告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11480" y="2327148"/>
            <a:ext cx="11384280" cy="560070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37744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914400" y="232714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237744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a16z AI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063240" y="232714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8960" y="237744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https://a16z.com/ai/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492240" y="232714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237744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投资/产品方向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686800" y="232714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32520" y="237744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Blog/报告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11480" y="2887218"/>
            <a:ext cx="11384280" cy="56007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293751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914400" y="288721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0120" y="293751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Sequoia AI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063240" y="288721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08960" y="293751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https://www.sequoiacap.com/article/ai/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492240" y="288721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37960" y="293751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产业观点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8686800" y="288721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32520" y="293751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Blog/报告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11480" y="3447288"/>
            <a:ext cx="11384280" cy="560070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349758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914400" y="344728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60120" y="349758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CB Insights AI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063240" y="344728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108960" y="349758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https://www.cbinsights.com/research/artificial-intelligence/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492240" y="344728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37960" y="349758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市场/投融资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8686800" y="344728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732520" y="349758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报告/新闻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11480" y="4007358"/>
            <a:ext cx="11384280" cy="56007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05765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914400" y="400735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60120" y="405765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McKinsey AI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063240" y="400735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108960" y="405765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https://www.mckinsey.com/capabilities/quantumblack/our-insights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492240" y="400735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37960" y="405765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 AI 采用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8686800" y="400735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732520" y="405765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11480" y="4567428"/>
            <a:ext cx="11384280" cy="560070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461772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914400" y="456742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60120" y="461772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Deloitte AI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3063240" y="456742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108960" y="461772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https://www2.deloitte.com/us/en/insights/focus/cognitive-technologies.html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492240" y="456742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537960" y="461772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企业/行业落地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8686800" y="456742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732520" y="461772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11480" y="5127498"/>
            <a:ext cx="11384280" cy="56007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57200" y="517779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914400" y="512749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60120" y="517779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Gartner AI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3063240" y="512749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108960" y="517779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https://www.gartner.com/en/topics/artificial-intelligence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6492240" y="512749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537960" y="517779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企业趋势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8686800" y="512749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732520" y="517779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报告/摘要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685800" y="5806440"/>
            <a:ext cx="10835640" cy="411480"/>
          </a:xfrm>
          <a:prstGeom prst="roundRect">
            <a:avLst>
              <a:gd name="adj" fmla="val 17778"/>
            </a:avLst>
          </a:prstGeom>
          <a:solidFill>
            <a:srgbClr val="0A2830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22960" y="5943600"/>
            <a:ext cx="105613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这类入口适合专题报告和周报，不适合和每日新闻混排。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CA3B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823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17. 入口十一：政策 / 标准 / AI 安全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589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用于捕捉监管、合规、模型安全、企业采购风险。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11247120" cy="0"/>
          </a:xfrm>
          <a:prstGeom prst="line">
            <a:avLst/>
          </a:prstGeom>
          <a:noFill/>
          <a:ln w="12700">
            <a:solidFill>
              <a:srgbClr val="24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55480" y="347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2C8"/>
                </a:solidFill>
              </a:rPr>
              <a:t>Source catalog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11480" y="1207008"/>
            <a:ext cx="11384280" cy="560070"/>
          </a:xfrm>
          <a:prstGeom prst="rect">
            <a:avLst/>
          </a:prstGeom>
          <a:solidFill>
            <a:srgbClr val="11324D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5730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图标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914400" y="120700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25730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3063240" y="120700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25730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建议入口 URL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6492240" y="120700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25730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8686800" y="120700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32520" y="125730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获取策略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411480" y="1767078"/>
            <a:ext cx="11384280" cy="56007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81737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⚖️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14400" y="176707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181737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NIST AI RMF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063240" y="176707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0" y="181737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https://www.nist.gov/itl/ai-risk-management-framework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492240" y="176707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181737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风险框架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686800" y="176707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32520" y="181737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低频监控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11480" y="2327148"/>
            <a:ext cx="11384280" cy="560070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37744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⚖️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914400" y="232714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237744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OECD AI Policy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063240" y="232714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8960" y="237744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https://oecd.ai/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492240" y="232714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237744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政策指标/国家政策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686800" y="232714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32520" y="237744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结构化/报告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11480" y="2887218"/>
            <a:ext cx="11384280" cy="56007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293751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⚖️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914400" y="288721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0120" y="293751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EU AI Office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063240" y="288721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08960" y="293751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https://digital-strategy.ec.europa.eu/en/policies/european-ai-office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492240" y="288721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37960" y="293751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EU AI Act/合规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8686800" y="288721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32520" y="293751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政策页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11480" y="3447288"/>
            <a:ext cx="11384280" cy="560070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349758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⚖️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914400" y="344728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60120" y="349758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UK AI Safety Institute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063240" y="344728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108960" y="349758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https://www.gov.uk/government/organisations/ai-safety-institute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492240" y="344728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37960" y="349758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模型安全评估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8686800" y="344728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732520" y="349758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官方公告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11480" y="4007358"/>
            <a:ext cx="11384280" cy="56007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05765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⚖️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914400" y="400735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60120" y="405765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Frontier Model Forum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063240" y="400735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108960" y="405765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https://www.frontiermodelforum.org/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492240" y="400735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37960" y="405765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前沿模型安全合作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8686800" y="400735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732520" y="405765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官网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11480" y="4567428"/>
            <a:ext cx="11384280" cy="560070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461772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⚖️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914400" y="456742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60120" y="461772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Partnership on AI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3063240" y="456742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108960" y="461772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https://partnershiponai.org/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492240" y="456742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537960" y="461772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 AI / 行业实践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8686800" y="456742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732520" y="461772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11480" y="5127498"/>
            <a:ext cx="11384280" cy="56007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57200" y="517779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⚖️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914400" y="512749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60120" y="517779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Incident Database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3063240" y="512749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108960" y="517779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https://incidentdatabase.ai/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6492240" y="512749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537960" y="517779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安全事故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8686800" y="512749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732520" y="517779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685800" y="5806440"/>
            <a:ext cx="10835640" cy="411480"/>
          </a:xfrm>
          <a:prstGeom prst="roundRect">
            <a:avLst>
              <a:gd name="adj" fmla="val 17778"/>
            </a:avLst>
          </a:prstGeom>
          <a:solidFill>
            <a:srgbClr val="0A2830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22960" y="5943600"/>
            <a:ext cx="105613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政策/安全适合“风险卡”，需区分事实、监管要求、模型推断和建议。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CA3B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823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18. 入口十二：社区 / 开发者反馈 / 社交信号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589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用于发现早期热点，但必须低权重、交叉验证，不能直接当事实源。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11247120" cy="0"/>
          </a:xfrm>
          <a:prstGeom prst="line">
            <a:avLst/>
          </a:prstGeom>
          <a:noFill/>
          <a:ln w="12700">
            <a:solidFill>
              <a:srgbClr val="24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55480" y="347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2C8"/>
                </a:solidFill>
              </a:rPr>
              <a:t>Source catalog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11480" y="1207008"/>
            <a:ext cx="11384280" cy="560070"/>
          </a:xfrm>
          <a:prstGeom prst="rect">
            <a:avLst/>
          </a:prstGeom>
          <a:solidFill>
            <a:srgbClr val="11324D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5730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图标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914400" y="120700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25730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3063240" y="120700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25730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建议入口 URL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6492240" y="120700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25730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8686800" y="120700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32520" y="125730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获取策略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411480" y="1767078"/>
            <a:ext cx="11384280" cy="56007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81737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14400" y="176707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181737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Hacker News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063240" y="176707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0" y="181737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https://news.ycombinator.com/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https://hn.algolia.com/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492240" y="176707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181737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开发者讨论/热点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686800" y="176707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32520" y="181737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搜索/API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11480" y="2327148"/>
            <a:ext cx="11384280" cy="560070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37744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914400" y="232714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237744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Reddit LocalLLaMA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063240" y="232714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8960" y="237744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https://www.reddit.com/r/LocalLLaMA/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492240" y="232714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237744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开源模型反馈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686800" y="232714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32520" y="237744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API/低频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11480" y="2887218"/>
            <a:ext cx="11384280" cy="56007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293751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914400" y="288721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0120" y="293751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Reddit ML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063240" y="288721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08960" y="293751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https://www.reddit.com/r/MachineLearning/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492240" y="288721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37960" y="293751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研究讨论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8686800" y="288721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32520" y="293751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API/低频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11480" y="3447288"/>
            <a:ext cx="11384280" cy="560070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349758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914400" y="344728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60120" y="349758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/ Twitter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063240" y="344728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108960" y="349758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https://x.com/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492240" y="344728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37960" y="349758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公司/研究者一手动态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8686800" y="344728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732520" y="349758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暂不自动抓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11480" y="4007358"/>
            <a:ext cx="11384280" cy="56007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05765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914400" y="400735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60120" y="405765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Discord/Slack 社区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063240" y="400735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108960" y="405765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各项目官方社区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492240" y="400735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37960" y="405765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开发者反馈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8686800" y="400735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732520" y="405765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人工/半自动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11480" y="4567428"/>
            <a:ext cx="11384280" cy="560070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461772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914400" y="456742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60120" y="461772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Indie Hackers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3063240" y="456742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108960" y="461772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https://www.indiehackers.com/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492240" y="456742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537960" y="461772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独立开发机会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8686800" y="456742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732520" y="461772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页面/手动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11480" y="5127498"/>
            <a:ext cx="11384280" cy="56007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57200" y="517779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914400" y="512749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60120" y="517779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YouTube/Podcast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3063240" y="512749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108960" y="517779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各模型/开发者频道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6492240" y="512749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537960" y="517779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发布会/访谈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8686800" y="512749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732520" y="517779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人工筛选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685800" y="5806440"/>
            <a:ext cx="10835640" cy="411480"/>
          </a:xfrm>
          <a:prstGeom prst="roundRect">
            <a:avLst>
              <a:gd name="adj" fmla="val 17778"/>
            </a:avLst>
          </a:prstGeom>
          <a:solidFill>
            <a:srgbClr val="0A2830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22960" y="5943600"/>
            <a:ext cx="105613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当前第一版不建议抓 X/Twitter；先保留人工 URL 和候选线索机制。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CA3B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823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19. 入口十三：招聘 / 投融资 / 专利 / 企业案例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589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这些是“非文章型战略信号”：能提前暴露公司方向和商业化趋势。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11247120" cy="0"/>
          </a:xfrm>
          <a:prstGeom prst="line">
            <a:avLst/>
          </a:prstGeom>
          <a:noFill/>
          <a:ln w="12700">
            <a:solidFill>
              <a:srgbClr val="24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55480" y="347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2C8"/>
                </a:solidFill>
              </a:rPr>
              <a:t>Source catalog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11480" y="1207008"/>
            <a:ext cx="11384280" cy="560070"/>
          </a:xfrm>
          <a:prstGeom prst="rect">
            <a:avLst/>
          </a:prstGeom>
          <a:solidFill>
            <a:srgbClr val="11324D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5730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图标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914400" y="120700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25730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3063240" y="120700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25730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建议入口 URL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6492240" y="120700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25730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8686800" y="120700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32520" y="125730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获取策略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411480" y="1767078"/>
            <a:ext cx="11384280" cy="56007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81737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🧑‍💼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14400" y="176707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181737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Company Careers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063240" y="176707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0" y="181737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/ Anthropic / xAI / Meta / DeepMind Careers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492240" y="176707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181737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战略招聘方向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686800" y="176707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32520" y="181737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岗位关键词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11480" y="2327148"/>
            <a:ext cx="11384280" cy="560070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37744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💸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914400" y="232714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237744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Crunchbase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063240" y="232714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8960" y="237744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https://www.crunchbase.com/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492240" y="232714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237744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融资/公司关系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686800" y="232714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32520" y="237744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低频/付费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11480" y="2887218"/>
            <a:ext cx="11384280" cy="56007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293751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💸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914400" y="288721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0120" y="293751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TechCrunch AI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063240" y="288721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08960" y="293751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https://techcrunch.com/category/artificial-intelligence/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492240" y="288721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37960" y="293751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融资/产品新闻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8686800" y="288721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32520" y="293751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新闻源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11480" y="3447288"/>
            <a:ext cx="11384280" cy="560070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349758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🧾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914400" y="344728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60120" y="349758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Patents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063240" y="344728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108960" y="349758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https://patents.google.com/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492240" y="344728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37960" y="349758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专利/技术布局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8686800" y="344728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732520" y="349758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低频检索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11480" y="4007358"/>
            <a:ext cx="11384280" cy="56007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05765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🏭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914400" y="400735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60120" y="405765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Customer Stories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063240" y="400735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108960" y="405765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https://customers.microsoft.com/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492240" y="400735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37960" y="405765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 AI 落地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8686800" y="400735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732520" y="405765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案例抓取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11480" y="4567428"/>
            <a:ext cx="11384280" cy="560070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461772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🏭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914400" y="456742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60120" y="461772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Cloud AI Customers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3063240" y="456742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108960" y="461772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https://cloud.google.com/customers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492240" y="456742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537960" y="461772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企业案例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8686800" y="456742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732520" y="461772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案例抓取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11480" y="5127498"/>
            <a:ext cx="11384280" cy="56007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57200" y="5177790"/>
            <a:ext cx="41148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🛡️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914400" y="512749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60120" y="5177790"/>
            <a:ext cx="205740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Security Blogs / CVE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3063240" y="512749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108960" y="5177790"/>
            <a:ext cx="333756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https://cve.mitre.org/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6492240" y="512749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537960" y="5177790"/>
            <a:ext cx="21031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AI/供应链风险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8686800" y="5127498"/>
            <a:ext cx="0" cy="56007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732520" y="5177790"/>
            <a:ext cx="3017520" cy="4869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低频监测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685800" y="5806440"/>
            <a:ext cx="10835640" cy="411480"/>
          </a:xfrm>
          <a:prstGeom prst="roundRect">
            <a:avLst>
              <a:gd name="adj" fmla="val 17778"/>
            </a:avLst>
          </a:prstGeom>
          <a:solidFill>
            <a:srgbClr val="0A2830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22960" y="5943600"/>
            <a:ext cx="105613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这类入口适合战略分析，不适合第一版日报；可以作为 V1.2+ 来源扩展方向。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CA3B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823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20. 获取策略矩阵：不同入口不能用同一套爬取逻辑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589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RSS/HTML 只是一类策略；Docs diff、榜单抓取、API 轮询、PDF 解析都是不同能力。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11247120" cy="0"/>
          </a:xfrm>
          <a:prstGeom prst="line">
            <a:avLst/>
          </a:prstGeom>
          <a:noFill/>
          <a:ln w="12700">
            <a:solidFill>
              <a:srgbClr val="24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55480" y="347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2C8"/>
                </a:solidFill>
              </a:rPr>
              <a:t>Fetch strategy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11064240" cy="554355"/>
          </a:xfrm>
          <a:prstGeom prst="rect">
            <a:avLst/>
          </a:prstGeom>
          <a:solidFill>
            <a:srgbClr val="11324D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84732"/>
            <a:ext cx="1828800" cy="48120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入口类型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2468880" y="1234440"/>
            <a:ext cx="0" cy="554355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284732"/>
            <a:ext cx="2377440" cy="48120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优先策略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4937760" y="1234440"/>
            <a:ext cx="0" cy="554355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284732"/>
            <a:ext cx="2926080" cy="48120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关键风险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7955280" y="1234440"/>
            <a:ext cx="0" cy="554355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1284732"/>
            <a:ext cx="3566160" cy="48120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适合输出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548640" y="1788795"/>
            <a:ext cx="11064240" cy="554355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1839087"/>
            <a:ext cx="1828800" cy="48120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官方公告/博客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468880" y="1788795"/>
            <a:ext cx="0" cy="554355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1839087"/>
            <a:ext cx="2377440" cy="48120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RSS → sitemap → HTML index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937760" y="1788795"/>
            <a:ext cx="0" cy="554355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1839087"/>
            <a:ext cx="2926080" cy="48120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403/动态页面/无 RSS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955280" y="1788795"/>
            <a:ext cx="0" cy="554355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01000" y="1839087"/>
            <a:ext cx="3566160" cy="48120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日报、洞察卡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48640" y="2343150"/>
            <a:ext cx="11064240" cy="554355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2393442"/>
            <a:ext cx="1828800" cy="48120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Docs/Changelog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468880" y="2343150"/>
            <a:ext cx="0" cy="554355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14600" y="2393442"/>
            <a:ext cx="2377440" cy="48120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页面快照 + diff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937760" y="2343150"/>
            <a:ext cx="0" cy="554355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2393442"/>
            <a:ext cx="2926080" cy="48120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页面结构变动、噪音变动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955280" y="2343150"/>
            <a:ext cx="0" cy="554355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01000" y="2393442"/>
            <a:ext cx="3566160" cy="48120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能力变化卡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48640" y="2897505"/>
            <a:ext cx="11064240" cy="554355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2947797"/>
            <a:ext cx="1828800" cy="48120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Pricing/Quota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468880" y="2897505"/>
            <a:ext cx="0" cy="554355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4600" y="2947797"/>
            <a:ext cx="2377440" cy="48120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字段抽取 + 新旧对比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937760" y="2897505"/>
            <a:ext cx="0" cy="554355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2947797"/>
            <a:ext cx="2926080" cy="48120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地区价格、套餐口径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955280" y="2897505"/>
            <a:ext cx="0" cy="554355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01000" y="2947797"/>
            <a:ext cx="3566160" cy="48120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成本判断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48640" y="3451860"/>
            <a:ext cx="11064240" cy="554355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3502152"/>
            <a:ext cx="1828800" cy="48120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Benchmark/榜单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468880" y="3451860"/>
            <a:ext cx="0" cy="554355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14600" y="3502152"/>
            <a:ext cx="2377440" cy="48120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结构化表格抓取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937760" y="3451860"/>
            <a:ext cx="0" cy="554355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83480" y="3502152"/>
            <a:ext cx="2926080" cy="48120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榜单口径变化、延迟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955280" y="3451860"/>
            <a:ext cx="0" cy="554355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01000" y="3502152"/>
            <a:ext cx="3566160" cy="48120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模型能力变化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48640" y="4006215"/>
            <a:ext cx="11064240" cy="554355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" y="4056507"/>
            <a:ext cx="1828800" cy="48120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GitHub/开源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468880" y="4006215"/>
            <a:ext cx="0" cy="554355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14600" y="4056507"/>
            <a:ext cx="2377440" cy="48120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API / Releases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937760" y="4006215"/>
            <a:ext cx="0" cy="554355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83480" y="4056507"/>
            <a:ext cx="2926080" cy="48120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速率限制、repo 噪音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955280" y="4006215"/>
            <a:ext cx="0" cy="554355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001000" y="4056507"/>
            <a:ext cx="3566160" cy="48120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工具机会卡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48640" y="4560570"/>
            <a:ext cx="11064240" cy="554355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4360" y="4610862"/>
            <a:ext cx="1828800" cy="48120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PDF/报告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468880" y="4560570"/>
            <a:ext cx="0" cy="554355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514600" y="4610862"/>
            <a:ext cx="2377440" cy="48120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PDF/HTML 长文解析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937760" y="4560570"/>
            <a:ext cx="0" cy="554355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83480" y="4610862"/>
            <a:ext cx="2926080" cy="48120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长文本、表格、版权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7955280" y="4560570"/>
            <a:ext cx="0" cy="554355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001000" y="4610862"/>
            <a:ext cx="3566160" cy="48120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专题报告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548640" y="5114925"/>
            <a:ext cx="11064240" cy="554355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94360" y="5165217"/>
            <a:ext cx="1828800" cy="48120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社区/社交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2468880" y="5114925"/>
            <a:ext cx="0" cy="554355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514600" y="5165217"/>
            <a:ext cx="2377440" cy="48120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搜索/API/人工回溯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937760" y="5114925"/>
            <a:ext cx="0" cy="554355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983480" y="5165217"/>
            <a:ext cx="2926080" cy="48120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噪音、真假、反爬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7955280" y="5114925"/>
            <a:ext cx="0" cy="554355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001000" y="5165217"/>
            <a:ext cx="3566160" cy="48120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候选线索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777240" y="5806440"/>
            <a:ext cx="10652760" cy="438912"/>
          </a:xfrm>
          <a:prstGeom prst="roundRect">
            <a:avLst>
              <a:gd name="adj" fmla="val 16667"/>
            </a:avLst>
          </a:prstGeom>
          <a:solidFill>
            <a:srgbClr val="0A2830"/>
          </a:solidFill>
          <a:ln w="1270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14400" y="5943600"/>
            <a:ext cx="1037844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设计建议：先做 SourceType + FetchStrategy + SignalType，不要把所有入口都塞进 html_index。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CA3B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823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21. 来源评价模型：不是来源越多越好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589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每个来源需要标记权威性、可靠性、噪音、频率、可抓取性和适合的输出。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11247120" cy="0"/>
          </a:xfrm>
          <a:prstGeom prst="line">
            <a:avLst/>
          </a:prstGeom>
          <a:noFill/>
          <a:ln w="12700">
            <a:solidFill>
              <a:srgbClr val="24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55480" y="347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2C8"/>
                </a:solidFill>
              </a:rPr>
              <a:t>Source scoring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40080" y="1234440"/>
            <a:ext cx="10881360" cy="587829"/>
          </a:xfrm>
          <a:prstGeom prst="rect">
            <a:avLst/>
          </a:prstGeom>
          <a:solidFill>
            <a:srgbClr val="11324D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284732"/>
            <a:ext cx="1828800" cy="51467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</a:t>
            </a:r>
            <a:endParaRPr lang="en-US" sz="890" dirty="0"/>
          </a:p>
        </p:txBody>
      </p:sp>
      <p:sp>
        <p:nvSpPr>
          <p:cNvPr id="9" name="Shape 7"/>
          <p:cNvSpPr/>
          <p:nvPr/>
        </p:nvSpPr>
        <p:spPr>
          <a:xfrm>
            <a:off x="2560320" y="1234440"/>
            <a:ext cx="0" cy="58782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1284732"/>
            <a:ext cx="4023360" cy="51467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</a:t>
            </a:r>
            <a:endParaRPr lang="en-US" sz="890" dirty="0"/>
          </a:p>
        </p:txBody>
      </p:sp>
      <p:sp>
        <p:nvSpPr>
          <p:cNvPr id="11" name="Shape 9"/>
          <p:cNvSpPr/>
          <p:nvPr/>
        </p:nvSpPr>
        <p:spPr>
          <a:xfrm>
            <a:off x="6675120" y="1234440"/>
            <a:ext cx="0" cy="58782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1284732"/>
            <a:ext cx="4754880" cy="51467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示例判断</a:t>
            </a:r>
            <a:endParaRPr lang="en-US" sz="890" dirty="0"/>
          </a:p>
        </p:txBody>
      </p:sp>
      <p:sp>
        <p:nvSpPr>
          <p:cNvPr id="13" name="Shape 11"/>
          <p:cNvSpPr/>
          <p:nvPr/>
        </p:nvSpPr>
        <p:spPr>
          <a:xfrm>
            <a:off x="640080" y="1822269"/>
            <a:ext cx="10881360" cy="587829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1872561"/>
            <a:ext cx="1828800" cy="51467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Authority 权威性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2560320" y="1822269"/>
            <a:ext cx="0" cy="58782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1872561"/>
            <a:ext cx="4023360" cy="51467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是否为一手官方/研究机构/标准组织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6675120" y="1822269"/>
            <a:ext cx="0" cy="58782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1872561"/>
            <a:ext cx="4754880" cy="51467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News 高；社区帖子低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640080" y="2410097"/>
            <a:ext cx="10881360" cy="587829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2460389"/>
            <a:ext cx="1828800" cy="51467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Reliability 可靠性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2560320" y="2410097"/>
            <a:ext cx="0" cy="58782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06040" y="2460389"/>
            <a:ext cx="4023360" cy="51467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RSS/API 是否稳定；HTML 是否经常 400/403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6675120" y="2410097"/>
            <a:ext cx="0" cy="58782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2460389"/>
            <a:ext cx="4754880" cy="51467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RSS 高；HTML fallback 中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640080" y="2997926"/>
            <a:ext cx="10881360" cy="587829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048218"/>
            <a:ext cx="1828800" cy="51467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Noise 噪音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2560320" y="2997926"/>
            <a:ext cx="0" cy="58782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06040" y="3048218"/>
            <a:ext cx="4023360" cy="51467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是否大量低价值或重复内容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6675120" y="2997926"/>
            <a:ext cx="0" cy="58782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3048218"/>
            <a:ext cx="4754880" cy="51467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arXiv 高噪音，需要过滤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640080" y="3585754"/>
            <a:ext cx="10881360" cy="587829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3636046"/>
            <a:ext cx="1828800" cy="51467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Freshness 时效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2560320" y="3585754"/>
            <a:ext cx="0" cy="58782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06040" y="3636046"/>
            <a:ext cx="4023360" cy="51467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更新频率与事件时效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6675120" y="3585754"/>
            <a:ext cx="0" cy="58782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20840" y="3636046"/>
            <a:ext cx="4754880" cy="51467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新闻/榜单高，报告低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640080" y="4173583"/>
            <a:ext cx="10881360" cy="587829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4223875"/>
            <a:ext cx="1828800" cy="51467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Relevance 相关性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2560320" y="4173583"/>
            <a:ext cx="0" cy="58782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06040" y="4223875"/>
            <a:ext cx="4023360" cy="51467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是否命中用户关注方向</a:t>
            </a:r>
            <a:endParaRPr lang="en-US" sz="860" dirty="0"/>
          </a:p>
        </p:txBody>
      </p:sp>
      <p:sp>
        <p:nvSpPr>
          <p:cNvPr id="41" name="Shape 39"/>
          <p:cNvSpPr/>
          <p:nvPr/>
        </p:nvSpPr>
        <p:spPr>
          <a:xfrm>
            <a:off x="6675120" y="4173583"/>
            <a:ext cx="0" cy="58782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20840" y="4223875"/>
            <a:ext cx="4754880" cy="51467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Agent/RAG/TTS/视频/安全</a:t>
            </a:r>
            <a:endParaRPr lang="en-US" sz="860" dirty="0"/>
          </a:p>
        </p:txBody>
      </p:sp>
      <p:sp>
        <p:nvSpPr>
          <p:cNvPr id="43" name="Shape 41"/>
          <p:cNvSpPr/>
          <p:nvPr/>
        </p:nvSpPr>
        <p:spPr>
          <a:xfrm>
            <a:off x="640080" y="4761411"/>
            <a:ext cx="10881360" cy="587829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" y="4811703"/>
            <a:ext cx="1828800" cy="51467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Actionability 可行动性</a:t>
            </a:r>
            <a:endParaRPr lang="en-US" sz="860" dirty="0"/>
          </a:p>
        </p:txBody>
      </p:sp>
      <p:sp>
        <p:nvSpPr>
          <p:cNvPr id="45" name="Shape 43"/>
          <p:cNvSpPr/>
          <p:nvPr/>
        </p:nvSpPr>
        <p:spPr>
          <a:xfrm>
            <a:off x="2560320" y="4761411"/>
            <a:ext cx="0" cy="58782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606040" y="4811703"/>
            <a:ext cx="4023360" cy="51467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能否转为产品机会或任务</a:t>
            </a:r>
            <a:endParaRPr lang="en-US" sz="860" dirty="0"/>
          </a:p>
        </p:txBody>
      </p:sp>
      <p:sp>
        <p:nvSpPr>
          <p:cNvPr id="47" name="Shape 45"/>
          <p:cNvSpPr/>
          <p:nvPr/>
        </p:nvSpPr>
        <p:spPr>
          <a:xfrm>
            <a:off x="6675120" y="4761411"/>
            <a:ext cx="0" cy="58782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20840" y="4811703"/>
            <a:ext cx="4754880" cy="51467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Docs/Pricing/Release 高</a:t>
            </a:r>
            <a:endParaRPr lang="en-US" sz="860" dirty="0"/>
          </a:p>
        </p:txBody>
      </p:sp>
      <p:sp>
        <p:nvSpPr>
          <p:cNvPr id="49" name="Shape 47"/>
          <p:cNvSpPr/>
          <p:nvPr/>
        </p:nvSpPr>
        <p:spPr>
          <a:xfrm>
            <a:off x="777240" y="5577840"/>
            <a:ext cx="10561320" cy="502920"/>
          </a:xfrm>
          <a:prstGeom prst="roundRect">
            <a:avLst>
              <a:gd name="adj" fmla="val 14545"/>
            </a:avLst>
          </a:prstGeom>
          <a:solidFill>
            <a:srgbClr val="0A2830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4400" y="5715000"/>
            <a:ext cx="10287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来源状态建议：Core / Candidate / Watch / Manual / Disabled。先验证，再进入每日主雷达。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CA3B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823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22. 信号类型 → 输出形态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589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产品不是把信息全部展示，而是根据信号类型生成不同的知识产品。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11247120" cy="0"/>
          </a:xfrm>
          <a:prstGeom prst="line">
            <a:avLst/>
          </a:prstGeom>
          <a:noFill/>
          <a:ln w="12700">
            <a:solidFill>
              <a:srgbClr val="24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55480" y="347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2C8"/>
                </a:solidFill>
              </a:rPr>
              <a:t>Signal output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40080" y="1143000"/>
            <a:ext cx="10972800" cy="582930"/>
          </a:xfrm>
          <a:prstGeom prst="rect">
            <a:avLst/>
          </a:prstGeom>
          <a:solidFill>
            <a:srgbClr val="11324D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193292"/>
            <a:ext cx="1920240" cy="50977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信号类型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2651760" y="1143000"/>
            <a:ext cx="0" cy="58293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1193292"/>
            <a:ext cx="3657600" cy="50977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6400800" y="1143000"/>
            <a:ext cx="0" cy="58293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193292"/>
            <a:ext cx="5120640" cy="50977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640080" y="1725930"/>
            <a:ext cx="10972800" cy="58293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1776222"/>
            <a:ext cx="1920240" cy="50977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模型发布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651760" y="1725930"/>
            <a:ext cx="0" cy="58293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97480" y="1776222"/>
            <a:ext cx="3657600" cy="50977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官方消息 / Docs / Benchmark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400800" y="1725930"/>
            <a:ext cx="0" cy="58293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1776222"/>
            <a:ext cx="5120640" cy="50977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模型发布卡、能力变化、是否值得尝试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40080" y="2308860"/>
            <a:ext cx="10972800" cy="582930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2359152"/>
            <a:ext cx="1920240" cy="50977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变化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651760" y="2308860"/>
            <a:ext cx="0" cy="58293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97480" y="2359152"/>
            <a:ext cx="3657600" cy="50977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Docs diff / changelog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400800" y="2308860"/>
            <a:ext cx="0" cy="58293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2359152"/>
            <a:ext cx="5120640" cy="50977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开发者影响、接入任务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40080" y="2891790"/>
            <a:ext cx="10972800" cy="58293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2942082"/>
            <a:ext cx="1920240" cy="50977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价格变化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651760" y="2891790"/>
            <a:ext cx="0" cy="58293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97480" y="2942082"/>
            <a:ext cx="3657600" cy="50977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Pricing page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400800" y="2891790"/>
            <a:ext cx="0" cy="58293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2942082"/>
            <a:ext cx="5120640" cy="50977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成本风险、替代模型建议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40080" y="3474720"/>
            <a:ext cx="10972800" cy="582930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3525012"/>
            <a:ext cx="1920240" cy="50977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榜单变化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651760" y="3474720"/>
            <a:ext cx="0" cy="58293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97480" y="3525012"/>
            <a:ext cx="3657600" cy="50977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Arena / SWE-bench / AA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400800" y="3474720"/>
            <a:ext cx="0" cy="58293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3525012"/>
            <a:ext cx="5120640" cy="50977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模型能力判断、选型建议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40080" y="4057650"/>
            <a:ext cx="10972800" cy="58293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4107942"/>
            <a:ext cx="1920240" cy="50977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研究突破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651760" y="4057650"/>
            <a:ext cx="0" cy="58293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97480" y="4107942"/>
            <a:ext cx="3657600" cy="50977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 / 研究博客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400800" y="4057650"/>
            <a:ext cx="0" cy="58293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46520" y="4107942"/>
            <a:ext cx="5120640" cy="50977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技术洞察、长期趋势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40080" y="4640580"/>
            <a:ext cx="10972800" cy="582930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" y="4690872"/>
            <a:ext cx="1920240" cy="50977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开源工具发布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651760" y="4640580"/>
            <a:ext cx="0" cy="58293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697480" y="4690872"/>
            <a:ext cx="3657600" cy="50977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/ HF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400800" y="4640580"/>
            <a:ext cx="0" cy="58293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46520" y="4690872"/>
            <a:ext cx="5120640" cy="50977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可落地工具卡、集成建议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40080" y="5223510"/>
            <a:ext cx="10972800" cy="58293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5800" y="5273802"/>
            <a:ext cx="1920240" cy="50977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政策/安全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651760" y="5223510"/>
            <a:ext cx="0" cy="58293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697480" y="5273802"/>
            <a:ext cx="3657600" cy="50977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政策报告 / Incident DB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400800" y="5223510"/>
            <a:ext cx="0" cy="58293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46520" y="5273802"/>
            <a:ext cx="5120640" cy="50977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风险卡、合规关注点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CA3B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823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23. 第一版产品边界：先稳定，不追求全覆盖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589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当前阶段应把“核心权威来源获取稳定”作为技能入口和产品底座。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11247120" cy="0"/>
          </a:xfrm>
          <a:prstGeom prst="line">
            <a:avLst/>
          </a:prstGeom>
          <a:noFill/>
          <a:ln w="12700">
            <a:solidFill>
              <a:srgbClr val="24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55480" y="347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2C8"/>
                </a:solidFill>
              </a:rPr>
              <a:t>MVP scope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10698480" cy="630936"/>
          </a:xfrm>
          <a:prstGeom prst="rect">
            <a:avLst/>
          </a:prstGeom>
          <a:solidFill>
            <a:srgbClr val="11324D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21892"/>
            <a:ext cx="1280160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</a:t>
            </a:r>
            <a:endParaRPr lang="en-US" sz="890" dirty="0"/>
          </a:p>
        </p:txBody>
      </p:sp>
      <p:sp>
        <p:nvSpPr>
          <p:cNvPr id="9" name="Shape 7"/>
          <p:cNvSpPr/>
          <p:nvPr/>
        </p:nvSpPr>
        <p:spPr>
          <a:xfrm>
            <a:off x="2103120" y="1371600"/>
            <a:ext cx="0" cy="630936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48840" y="1421892"/>
            <a:ext cx="4480560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</a:t>
            </a:r>
            <a:endParaRPr lang="en-US" sz="890" dirty="0"/>
          </a:p>
        </p:txBody>
      </p:sp>
      <p:sp>
        <p:nvSpPr>
          <p:cNvPr id="11" name="Shape 9"/>
          <p:cNvSpPr/>
          <p:nvPr/>
        </p:nvSpPr>
        <p:spPr>
          <a:xfrm>
            <a:off x="6675120" y="1371600"/>
            <a:ext cx="0" cy="630936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1421892"/>
            <a:ext cx="4663440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暂不做</a:t>
            </a:r>
            <a:endParaRPr lang="en-US" sz="890" dirty="0"/>
          </a:p>
        </p:txBody>
      </p:sp>
      <p:sp>
        <p:nvSpPr>
          <p:cNvPr id="13" name="Shape 11"/>
          <p:cNvSpPr/>
          <p:nvPr/>
        </p:nvSpPr>
        <p:spPr>
          <a:xfrm>
            <a:off x="731520" y="2002536"/>
            <a:ext cx="10698480" cy="630936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052828"/>
            <a:ext cx="1280160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2103120" y="2002536"/>
            <a:ext cx="0" cy="630936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48840" y="2052828"/>
            <a:ext cx="4480560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官方公告、研究博客、RSS/HTML、少量 Docs/Pricing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6675120" y="2002536"/>
            <a:ext cx="0" cy="630936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2052828"/>
            <a:ext cx="4663440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X/Twitter、全网爬虫、付费数据库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731520" y="2633472"/>
            <a:ext cx="10698480" cy="630936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2683764"/>
            <a:ext cx="1280160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2103120" y="2633472"/>
            <a:ext cx="0" cy="630936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48840" y="2683764"/>
            <a:ext cx="4480560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去重、来源健康、中文摘要、洞察卡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6675120" y="2633472"/>
            <a:ext cx="0" cy="630936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2683764"/>
            <a:ext cx="4663440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复杂知识图谱、多 Agent 自动判断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731520" y="3264408"/>
            <a:ext cx="10698480" cy="630936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3314700"/>
            <a:ext cx="1280160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2103120" y="3264408"/>
            <a:ext cx="0" cy="630936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48840" y="3314700"/>
            <a:ext cx="4480560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今日雷达、推荐深入分析、日报 Markdown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6675120" y="3264408"/>
            <a:ext cx="0" cy="630936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3314700"/>
            <a:ext cx="4663440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公众号自动发布、SaaS、多用户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731520" y="3895344"/>
            <a:ext cx="10698480" cy="630936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3945636"/>
            <a:ext cx="1280160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2103120" y="3895344"/>
            <a:ext cx="0" cy="630936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48840" y="3945636"/>
            <a:ext cx="4480560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失败可解释、批处理限流、幂等状态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6675120" y="3895344"/>
            <a:ext cx="0" cy="630936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20840" y="3945636"/>
            <a:ext cx="4663440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一次性覆盖所有信息入口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914400" y="5074920"/>
            <a:ext cx="10332720" cy="594360"/>
          </a:xfrm>
          <a:prstGeom prst="roundRect">
            <a:avLst>
              <a:gd name="adj" fmla="val 12308"/>
            </a:avLst>
          </a:prstGeom>
          <a:solidFill>
            <a:srgbClr val="0A2830"/>
          </a:solidFill>
          <a:ln w="1270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51560" y="5212080"/>
            <a:ext cx="100584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第一版目标：每天打开后能稳定看到核心来源的新内容，并能生成中文摘要、洞察卡和今日报告。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CA3B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823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24. 分阶段路线图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589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先验证官方源与每日雷达，再扩展到多信号入口和长期趋势。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11247120" cy="0"/>
          </a:xfrm>
          <a:prstGeom prst="line">
            <a:avLst/>
          </a:prstGeom>
          <a:noFill/>
          <a:ln w="12700">
            <a:solidFill>
              <a:srgbClr val="24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55480" y="347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2C8"/>
                </a:solidFill>
              </a:rPr>
              <a:t>Roadmap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77240" y="1143000"/>
            <a:ext cx="10652760" cy="658368"/>
          </a:xfrm>
          <a:prstGeom prst="roundRect">
            <a:avLst>
              <a:gd name="adj" fmla="val 11111"/>
            </a:avLst>
          </a:prstGeom>
          <a:solidFill>
            <a:srgbClr val="102A3E"/>
          </a:solidFill>
          <a:ln w="1270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30759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</a:rPr>
              <a:t>V1.0 Stable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63240" y="128930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DCE7F3"/>
                </a:solidFill>
              </a:rPr>
              <a:t>官方源 + RSS/HTML + 今日雷达 + 中文摘要 + InsightCard</a:t>
            </a:r>
            <a:endParaRPr lang="en-US" sz="1170" dirty="0"/>
          </a:p>
        </p:txBody>
      </p:sp>
      <p:sp>
        <p:nvSpPr>
          <p:cNvPr id="10" name="Shape 8"/>
          <p:cNvSpPr/>
          <p:nvPr/>
        </p:nvSpPr>
        <p:spPr>
          <a:xfrm>
            <a:off x="777240" y="2103120"/>
            <a:ext cx="10652760" cy="658368"/>
          </a:xfrm>
          <a:prstGeom prst="roundRect">
            <a:avLst>
              <a:gd name="adj" fmla="val 11111"/>
            </a:avLst>
          </a:prstGeom>
          <a:solidFill>
            <a:srgbClr val="0E2035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26771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</a:rPr>
              <a:t>V1.1 Source Strategy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63240" y="224942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DCE7F3"/>
                </a:solidFill>
              </a:rPr>
              <a:t>SourceType / SignalType / Source Health / Candidate sources</a:t>
            </a:r>
            <a:endParaRPr lang="en-US" sz="1170" dirty="0"/>
          </a:p>
        </p:txBody>
      </p:sp>
      <p:sp>
        <p:nvSpPr>
          <p:cNvPr id="13" name="Shape 11"/>
          <p:cNvSpPr/>
          <p:nvPr/>
        </p:nvSpPr>
        <p:spPr>
          <a:xfrm>
            <a:off x="777240" y="3063240"/>
            <a:ext cx="10652760" cy="658368"/>
          </a:xfrm>
          <a:prstGeom prst="roundRect">
            <a:avLst>
              <a:gd name="adj" fmla="val 11111"/>
            </a:avLst>
          </a:prstGeom>
          <a:solidFill>
            <a:srgbClr val="102A3E"/>
          </a:solidFill>
          <a:ln w="12700">
            <a:solidFill>
              <a:srgbClr val="60A5FA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22783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</a:rPr>
              <a:t>V1.2 Capability Radar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63240" y="320954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DCE7F3"/>
                </a:solidFill>
              </a:rPr>
              <a:t>Docs Diff / Pricing Diff / Benchmark tracking / Model matrix</a:t>
            </a:r>
            <a:endParaRPr lang="en-US" sz="1170" dirty="0"/>
          </a:p>
        </p:txBody>
      </p:sp>
      <p:sp>
        <p:nvSpPr>
          <p:cNvPr id="16" name="Shape 14"/>
          <p:cNvSpPr/>
          <p:nvPr/>
        </p:nvSpPr>
        <p:spPr>
          <a:xfrm>
            <a:off x="777240" y="4023360"/>
            <a:ext cx="10652760" cy="658368"/>
          </a:xfrm>
          <a:prstGeom prst="roundRect">
            <a:avLst>
              <a:gd name="adj" fmla="val 11111"/>
            </a:avLst>
          </a:prstGeom>
          <a:solidFill>
            <a:srgbClr val="0E2035"/>
          </a:solidFill>
          <a:ln w="12700">
            <a:solidFill>
              <a:srgbClr val="A78BFA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18795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</a:rPr>
              <a:t>V1.3 Research &amp; Open-source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63240" y="416966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DCE7F3"/>
                </a:solidFill>
              </a:rPr>
              <a:t>arXiv 强过滤 / GitHub Release / HF Models / Papers with Code</a:t>
            </a:r>
            <a:endParaRPr lang="en-US" sz="1170" dirty="0"/>
          </a:p>
        </p:txBody>
      </p:sp>
      <p:sp>
        <p:nvSpPr>
          <p:cNvPr id="19" name="Shape 17"/>
          <p:cNvSpPr/>
          <p:nvPr/>
        </p:nvSpPr>
        <p:spPr>
          <a:xfrm>
            <a:off x="777240" y="4983480"/>
            <a:ext cx="10652760" cy="658368"/>
          </a:xfrm>
          <a:prstGeom prst="roundRect">
            <a:avLst>
              <a:gd name="adj" fmla="val 11111"/>
            </a:avLst>
          </a:prstGeom>
          <a:solidFill>
            <a:srgbClr val="102A3E"/>
          </a:solidFill>
          <a:ln w="12700">
            <a:solidFill>
              <a:srgbClr val="FBBF24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514807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</a:rPr>
              <a:t>V1.4 Strategy Reports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063240" y="512978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DCE7F3"/>
                </a:solidFill>
              </a:rPr>
              <a:t>行业报告 / 政策 / 安全 / 投融资 / 企业案例</a:t>
            </a:r>
            <a:endParaRPr lang="en-US" sz="11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CA3B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823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25. 建议的数据对象设计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589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后续模块化的关键：从“网页”升级为“来源 + 信号 + 策略”。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11247120" cy="0"/>
          </a:xfrm>
          <a:prstGeom prst="line">
            <a:avLst/>
          </a:prstGeom>
          <a:noFill/>
          <a:ln w="12700">
            <a:solidFill>
              <a:srgbClr val="24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55480" y="347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2C8"/>
                </a:solidFill>
              </a:rPr>
              <a:t>Data model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188720"/>
            <a:ext cx="11018520" cy="659674"/>
          </a:xfrm>
          <a:prstGeom prst="rect">
            <a:avLst/>
          </a:prstGeom>
          <a:solidFill>
            <a:srgbClr val="11324D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39012"/>
            <a:ext cx="1737360" cy="58652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</a:t>
            </a:r>
            <a:endParaRPr lang="en-US" sz="890" dirty="0"/>
          </a:p>
        </p:txBody>
      </p:sp>
      <p:sp>
        <p:nvSpPr>
          <p:cNvPr id="9" name="Shape 7"/>
          <p:cNvSpPr/>
          <p:nvPr/>
        </p:nvSpPr>
        <p:spPr>
          <a:xfrm>
            <a:off x="2423160" y="1188720"/>
            <a:ext cx="0" cy="659674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239012"/>
            <a:ext cx="5212080" cy="58652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核心字段</a:t>
            </a:r>
            <a:endParaRPr lang="en-US" sz="890" dirty="0"/>
          </a:p>
        </p:txBody>
      </p:sp>
      <p:sp>
        <p:nvSpPr>
          <p:cNvPr id="11" name="Shape 9"/>
          <p:cNvSpPr/>
          <p:nvPr/>
        </p:nvSpPr>
        <p:spPr>
          <a:xfrm>
            <a:off x="7726680" y="1188720"/>
            <a:ext cx="0" cy="659674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0" y="1239012"/>
            <a:ext cx="3794760" cy="58652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</a:t>
            </a:r>
            <a:endParaRPr lang="en-US" sz="890" dirty="0"/>
          </a:p>
        </p:txBody>
      </p:sp>
      <p:sp>
        <p:nvSpPr>
          <p:cNvPr id="13" name="Shape 11"/>
          <p:cNvSpPr/>
          <p:nvPr/>
        </p:nvSpPr>
        <p:spPr>
          <a:xfrm>
            <a:off x="594360" y="1848394"/>
            <a:ext cx="11018520" cy="659674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898686"/>
            <a:ext cx="1737360" cy="58652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2423160" y="1848394"/>
            <a:ext cx="0" cy="659674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1898686"/>
            <a:ext cx="5212080" cy="58652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source_key, homepage_url, tier, authority_score, reliability_score, source_type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7726680" y="1848394"/>
            <a:ext cx="0" cy="659674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898686"/>
            <a:ext cx="3794760" cy="58652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定义来源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594360" y="2508069"/>
            <a:ext cx="11018520" cy="659674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558361"/>
            <a:ext cx="1737360" cy="58652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SourceProfile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2423160" y="2508069"/>
            <a:ext cx="0" cy="659674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68880" y="2558361"/>
            <a:ext cx="5212080" cy="58652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fetch_strategy, parse_strategy, update_cadence, noise_level, strategy_status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7726680" y="2508069"/>
            <a:ext cx="0" cy="659674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0" y="2558361"/>
            <a:ext cx="3794760" cy="58652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定义怎么抓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594360" y="3167743"/>
            <a:ext cx="11018520" cy="659674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218035"/>
            <a:ext cx="1737360" cy="58652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SourceItem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2423160" y="3167743"/>
            <a:ext cx="0" cy="659674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68880" y="3218035"/>
            <a:ext cx="5212080" cy="58652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url, canonical_url, title, first_seen_at, content_type, metadata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7726680" y="3167743"/>
            <a:ext cx="0" cy="659674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218035"/>
            <a:ext cx="3794760" cy="58652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信息条目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594360" y="3827417"/>
            <a:ext cx="11018520" cy="659674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3877709"/>
            <a:ext cx="1737360" cy="58652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Signal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2423160" y="3827417"/>
            <a:ext cx="0" cy="659674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68880" y="3877709"/>
            <a:ext cx="5212080" cy="58652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signal_type, evidence_urls, confidence, detected_at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7726680" y="3827417"/>
            <a:ext cx="0" cy="659674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0" y="3877709"/>
            <a:ext cx="3794760" cy="58652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变化信号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594360" y="4487091"/>
            <a:ext cx="11018520" cy="659674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4537383"/>
            <a:ext cx="1737360" cy="58652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InsightCard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2423160" y="4487091"/>
            <a:ext cx="0" cy="659674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468880" y="4537383"/>
            <a:ext cx="5212080" cy="58652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facts, source_claims, inference, relevance, action_items</a:t>
            </a:r>
            <a:endParaRPr lang="en-US" sz="860" dirty="0"/>
          </a:p>
        </p:txBody>
      </p:sp>
      <p:sp>
        <p:nvSpPr>
          <p:cNvPr id="41" name="Shape 39"/>
          <p:cNvSpPr/>
          <p:nvPr/>
        </p:nvSpPr>
        <p:spPr>
          <a:xfrm>
            <a:off x="7726680" y="4487091"/>
            <a:ext cx="0" cy="659674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72400" y="4537383"/>
            <a:ext cx="3794760" cy="58652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中文洞察</a:t>
            </a:r>
            <a:endParaRPr lang="en-US" sz="860" dirty="0"/>
          </a:p>
        </p:txBody>
      </p:sp>
      <p:sp>
        <p:nvSpPr>
          <p:cNvPr id="43" name="Shape 41"/>
          <p:cNvSpPr/>
          <p:nvPr/>
        </p:nvSpPr>
        <p:spPr>
          <a:xfrm>
            <a:off x="594360" y="5146766"/>
            <a:ext cx="11018520" cy="659674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5197058"/>
            <a:ext cx="1737360" cy="58652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RunState</a:t>
            </a:r>
            <a:endParaRPr lang="en-US" sz="860" dirty="0"/>
          </a:p>
        </p:txBody>
      </p:sp>
      <p:sp>
        <p:nvSpPr>
          <p:cNvPr id="45" name="Shape 43"/>
          <p:cNvSpPr/>
          <p:nvPr/>
        </p:nvSpPr>
        <p:spPr>
          <a:xfrm>
            <a:off x="2423160" y="5146766"/>
            <a:ext cx="0" cy="659674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468880" y="5197058"/>
            <a:ext cx="5212080" cy="58652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fetch_status, summary_status, compile_status, retry_count, error</a:t>
            </a:r>
            <a:endParaRPr lang="en-US" sz="860" dirty="0"/>
          </a:p>
        </p:txBody>
      </p:sp>
      <p:sp>
        <p:nvSpPr>
          <p:cNvPr id="47" name="Shape 45"/>
          <p:cNvSpPr/>
          <p:nvPr/>
        </p:nvSpPr>
        <p:spPr>
          <a:xfrm>
            <a:off x="7726680" y="5146766"/>
            <a:ext cx="0" cy="659674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72400" y="5197058"/>
            <a:ext cx="3794760" cy="58652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运行治理</a:t>
            </a:r>
            <a:endParaRPr lang="en-US" sz="8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CA3B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823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26. 当前项目能力映射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589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 AI Frontier Radar 已验证第一条核心链路，但需要收口自动化边界和技术债。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11247120" cy="0"/>
          </a:xfrm>
          <a:prstGeom prst="line">
            <a:avLst/>
          </a:prstGeom>
          <a:noFill/>
          <a:ln w="12700">
            <a:solidFill>
              <a:srgbClr val="24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55480" y="347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2C8"/>
                </a:solidFill>
              </a:rPr>
              <a:t>Project mapping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188720"/>
            <a:ext cx="11064240" cy="666206"/>
          </a:xfrm>
          <a:prstGeom prst="rect">
            <a:avLst/>
          </a:prstGeom>
          <a:solidFill>
            <a:srgbClr val="11324D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39012"/>
            <a:ext cx="2011680" cy="59305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当前模块</a:t>
            </a:r>
            <a:endParaRPr lang="en-US" sz="890" dirty="0"/>
          </a:p>
        </p:txBody>
      </p:sp>
      <p:sp>
        <p:nvSpPr>
          <p:cNvPr id="9" name="Shape 7"/>
          <p:cNvSpPr/>
          <p:nvPr/>
        </p:nvSpPr>
        <p:spPr>
          <a:xfrm>
            <a:off x="2697480" y="1188720"/>
            <a:ext cx="0" cy="666206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1239012"/>
            <a:ext cx="4114800" cy="59305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已具备</a:t>
            </a:r>
            <a:endParaRPr lang="en-US" sz="890" dirty="0"/>
          </a:p>
        </p:txBody>
      </p:sp>
      <p:sp>
        <p:nvSpPr>
          <p:cNvPr id="11" name="Shape 9"/>
          <p:cNvSpPr/>
          <p:nvPr/>
        </p:nvSpPr>
        <p:spPr>
          <a:xfrm>
            <a:off x="6903720" y="1188720"/>
            <a:ext cx="0" cy="666206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0" y="1239012"/>
            <a:ext cx="4663440" cy="59305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890" dirty="0"/>
          </a:p>
        </p:txBody>
      </p:sp>
      <p:sp>
        <p:nvSpPr>
          <p:cNvPr id="13" name="Shape 11"/>
          <p:cNvSpPr/>
          <p:nvPr/>
        </p:nvSpPr>
        <p:spPr>
          <a:xfrm>
            <a:off x="594360" y="1854926"/>
            <a:ext cx="11064240" cy="666206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905218"/>
            <a:ext cx="2011680" cy="59305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 Registry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2697480" y="1854926"/>
            <a:ext cx="0" cy="666206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0" y="1905218"/>
            <a:ext cx="4114800" cy="59305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sources.yaml + RSS/HTML 策略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6903720" y="1854926"/>
            <a:ext cx="0" cy="666206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1905218"/>
            <a:ext cx="4663440" cy="59305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加入 SourceType / tier / strategy_status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594360" y="2521131"/>
            <a:ext cx="11064240" cy="666206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571423"/>
            <a:ext cx="2011680" cy="59305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FetchRun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2697480" y="2521131"/>
            <a:ext cx="0" cy="666206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0" y="2571423"/>
            <a:ext cx="4114800" cy="59305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found/new/updated/failed 记录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6903720" y="2521131"/>
            <a:ext cx="0" cy="666206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2571423"/>
            <a:ext cx="4663440" cy="59305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来源健康评分、错误分类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594360" y="3187337"/>
            <a:ext cx="11064240" cy="666206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237629"/>
            <a:ext cx="2011680" cy="59305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Today Radar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2697480" y="3187337"/>
            <a:ext cx="0" cy="666206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0" y="3237629"/>
            <a:ext cx="4114800" cy="59305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每日锚点增量 + 最新发现均衡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6903720" y="3187337"/>
            <a:ext cx="0" cy="666206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0" y="3237629"/>
            <a:ext cx="4663440" cy="59305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文案收口、主列表策略清晰化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594360" y="3853543"/>
            <a:ext cx="11064240" cy="666206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3903835"/>
            <a:ext cx="2011680" cy="59305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Summary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2697480" y="3853543"/>
            <a:ext cx="0" cy="666206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0" y="3903835"/>
            <a:ext cx="4114800" cy="59305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中文一句话/摘要批处理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6903720" y="3853543"/>
            <a:ext cx="0" cy="666206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49440" y="3903835"/>
            <a:ext cx="4663440" cy="59305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daily cycle 摘要上限、成本预估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594360" y="4519749"/>
            <a:ext cx="11064240" cy="666206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4570041"/>
            <a:ext cx="2011680" cy="59305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InsightCard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2697480" y="4519749"/>
            <a:ext cx="0" cy="666206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0" y="4570041"/>
            <a:ext cx="4114800" cy="59305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可从 metadata/summary 生成</a:t>
            </a:r>
            <a:endParaRPr lang="en-US" sz="860" dirty="0"/>
          </a:p>
        </p:txBody>
      </p:sp>
      <p:sp>
        <p:nvSpPr>
          <p:cNvPr id="41" name="Shape 39"/>
          <p:cNvSpPr/>
          <p:nvPr/>
        </p:nvSpPr>
        <p:spPr>
          <a:xfrm>
            <a:off x="6903720" y="4519749"/>
            <a:ext cx="0" cy="666206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49440" y="4570041"/>
            <a:ext cx="4663440" cy="59305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质量验收与人工反馈</a:t>
            </a:r>
            <a:endParaRPr lang="en-US" sz="860" dirty="0"/>
          </a:p>
        </p:txBody>
      </p:sp>
      <p:sp>
        <p:nvSpPr>
          <p:cNvPr id="43" name="Shape 41"/>
          <p:cNvSpPr/>
          <p:nvPr/>
        </p:nvSpPr>
        <p:spPr>
          <a:xfrm>
            <a:off x="594360" y="5185954"/>
            <a:ext cx="11064240" cy="666206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5236246"/>
            <a:ext cx="2011680" cy="59305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Daily Cycle</a:t>
            </a:r>
            <a:endParaRPr lang="en-US" sz="860" dirty="0"/>
          </a:p>
        </p:txBody>
      </p:sp>
      <p:sp>
        <p:nvSpPr>
          <p:cNvPr id="45" name="Shape 43"/>
          <p:cNvSpPr/>
          <p:nvPr/>
        </p:nvSpPr>
        <p:spPr>
          <a:xfrm>
            <a:off x="2697480" y="5185954"/>
            <a:ext cx="0" cy="666206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0" y="5236246"/>
            <a:ext cx="4114800" cy="59305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fetch→summary→report→audio 雏形</a:t>
            </a:r>
            <a:endParaRPr lang="en-US" sz="860" dirty="0"/>
          </a:p>
        </p:txBody>
      </p:sp>
      <p:sp>
        <p:nvSpPr>
          <p:cNvPr id="47" name="Shape 45"/>
          <p:cNvSpPr/>
          <p:nvPr/>
        </p:nvSpPr>
        <p:spPr>
          <a:xfrm>
            <a:off x="6903720" y="5185954"/>
            <a:ext cx="0" cy="666206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49440" y="5236246"/>
            <a:ext cx="4663440" cy="59305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重复运行保护、上限、dry-run 报告</a:t>
            </a:r>
            <a:endParaRPr lang="en-US" sz="8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CA3B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823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27. 风险与控制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589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全球信息获取系统最大的风险是“范围失控”和“自动化成本失控”。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11247120" cy="0"/>
          </a:xfrm>
          <a:prstGeom prst="line">
            <a:avLst/>
          </a:prstGeom>
          <a:noFill/>
          <a:ln w="12700">
            <a:solidFill>
              <a:srgbClr val="24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55480" y="347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2C8"/>
                </a:solidFill>
              </a:rPr>
              <a:t>Risk control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188720"/>
            <a:ext cx="10835640" cy="653143"/>
          </a:xfrm>
          <a:prstGeom prst="rect">
            <a:avLst/>
          </a:prstGeom>
          <a:solidFill>
            <a:srgbClr val="11324D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239012"/>
            <a:ext cx="1920240" cy="57999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</a:t>
            </a:r>
            <a:endParaRPr lang="en-US" sz="890" dirty="0"/>
          </a:p>
        </p:txBody>
      </p:sp>
      <p:sp>
        <p:nvSpPr>
          <p:cNvPr id="9" name="Shape 7"/>
          <p:cNvSpPr/>
          <p:nvPr/>
        </p:nvSpPr>
        <p:spPr>
          <a:xfrm>
            <a:off x="2697480" y="1188720"/>
            <a:ext cx="0" cy="653143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1239012"/>
            <a:ext cx="3566160" cy="57999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</a:t>
            </a:r>
            <a:endParaRPr lang="en-US" sz="890" dirty="0"/>
          </a:p>
        </p:txBody>
      </p:sp>
      <p:sp>
        <p:nvSpPr>
          <p:cNvPr id="11" name="Shape 9"/>
          <p:cNvSpPr/>
          <p:nvPr/>
        </p:nvSpPr>
        <p:spPr>
          <a:xfrm>
            <a:off x="6355080" y="1188720"/>
            <a:ext cx="0" cy="653143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239012"/>
            <a:ext cx="5074920" cy="57999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控制策略</a:t>
            </a:r>
            <a:endParaRPr lang="en-US" sz="890" dirty="0"/>
          </a:p>
        </p:txBody>
      </p:sp>
      <p:sp>
        <p:nvSpPr>
          <p:cNvPr id="13" name="Shape 11"/>
          <p:cNvSpPr/>
          <p:nvPr/>
        </p:nvSpPr>
        <p:spPr>
          <a:xfrm>
            <a:off x="685800" y="1841863"/>
            <a:ext cx="10835640" cy="653143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1892155"/>
            <a:ext cx="1920240" cy="57999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来源不稳定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2697480" y="1841863"/>
            <a:ext cx="0" cy="653143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0" y="1892155"/>
            <a:ext cx="3566160" cy="57999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403/400/timeout/动态渲染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6355080" y="1841863"/>
            <a:ext cx="0" cy="653143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1892155"/>
            <a:ext cx="5074920" cy="57999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RSS 优先、HTML 降级、manual fallback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685800" y="2495006"/>
            <a:ext cx="10835640" cy="653143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2545298"/>
            <a:ext cx="1920240" cy="57999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信息噪音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2697480" y="2495006"/>
            <a:ext cx="0" cy="653143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0" y="2545298"/>
            <a:ext cx="3566160" cy="57999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论文/社区/工具太多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6355080" y="2495006"/>
            <a:ext cx="0" cy="653143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2545298"/>
            <a:ext cx="5074920" cy="57999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来源配额、SignalType 过滤、推荐队列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685800" y="3148149"/>
            <a:ext cx="10835640" cy="653143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198441"/>
            <a:ext cx="1920240" cy="57999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重复内容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2697480" y="3148149"/>
            <a:ext cx="0" cy="653143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0" y="3198441"/>
            <a:ext cx="3566160" cy="57999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同文多 URL/跨来源转载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6355080" y="3148149"/>
            <a:ext cx="0" cy="653143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3198441"/>
            <a:ext cx="5074920" cy="57999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canonical_url、normalized_url、content_fingerprint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685800" y="3801291"/>
            <a:ext cx="10835640" cy="653143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3851583"/>
            <a:ext cx="1920240" cy="57999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成本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2697480" y="3801291"/>
            <a:ext cx="0" cy="653143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0" y="3851583"/>
            <a:ext cx="3566160" cy="57999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一次摘要上百/上千条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6355080" y="3801291"/>
            <a:ext cx="0" cy="653143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3851583"/>
            <a:ext cx="5074920" cy="57999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daily cycle limit、dry-run、硬上限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685800" y="4454434"/>
            <a:ext cx="10835640" cy="653143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4504726"/>
            <a:ext cx="1920240" cy="57999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事实风险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2697480" y="4454434"/>
            <a:ext cx="0" cy="653143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0" y="4504726"/>
            <a:ext cx="3566160" cy="57999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模型推断混成事实</a:t>
            </a:r>
            <a:endParaRPr lang="en-US" sz="860" dirty="0"/>
          </a:p>
        </p:txBody>
      </p:sp>
      <p:sp>
        <p:nvSpPr>
          <p:cNvPr id="41" name="Shape 39"/>
          <p:cNvSpPr/>
          <p:nvPr/>
        </p:nvSpPr>
        <p:spPr>
          <a:xfrm>
            <a:off x="6355080" y="4454434"/>
            <a:ext cx="0" cy="653143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0" y="4504726"/>
            <a:ext cx="5074920" cy="57999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事实/原文观点/推断/建议分字段</a:t>
            </a:r>
            <a:endParaRPr lang="en-US" sz="860" dirty="0"/>
          </a:p>
        </p:txBody>
      </p:sp>
      <p:sp>
        <p:nvSpPr>
          <p:cNvPr id="43" name="Shape 41"/>
          <p:cNvSpPr/>
          <p:nvPr/>
        </p:nvSpPr>
        <p:spPr>
          <a:xfrm>
            <a:off x="685800" y="5107577"/>
            <a:ext cx="10835640" cy="653143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1520" y="5157869"/>
            <a:ext cx="1920240" cy="57999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技术债</a:t>
            </a:r>
            <a:endParaRPr lang="en-US" sz="860" dirty="0"/>
          </a:p>
        </p:txBody>
      </p:sp>
      <p:sp>
        <p:nvSpPr>
          <p:cNvPr id="45" name="Shape 43"/>
          <p:cNvSpPr/>
          <p:nvPr/>
        </p:nvSpPr>
        <p:spPr>
          <a:xfrm>
            <a:off x="2697480" y="5107577"/>
            <a:ext cx="0" cy="653143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0" y="5157869"/>
            <a:ext cx="3566160" cy="57999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路由过重、metadata 滥用</a:t>
            </a:r>
            <a:endParaRPr lang="en-US" sz="860" dirty="0"/>
          </a:p>
        </p:txBody>
      </p:sp>
      <p:sp>
        <p:nvSpPr>
          <p:cNvPr id="47" name="Shape 45"/>
          <p:cNvSpPr/>
          <p:nvPr/>
        </p:nvSpPr>
        <p:spPr>
          <a:xfrm>
            <a:off x="6355080" y="5107577"/>
            <a:ext cx="0" cy="653143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0" y="5157869"/>
            <a:ext cx="5074920" cy="57999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模块拆分、状态字段正规化</a:t>
            </a:r>
            <a:endParaRPr lang="en-US" sz="8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CA3B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823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28. 产品输出形态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589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一个底座，多种输出：面向阅读、判断、沉淀和行动。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11247120" cy="0"/>
          </a:xfrm>
          <a:prstGeom prst="line">
            <a:avLst/>
          </a:prstGeom>
          <a:noFill/>
          <a:ln w="12700">
            <a:solidFill>
              <a:srgbClr val="24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55480" y="347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2C8"/>
                </a:solidFill>
              </a:rPr>
              <a:t>Outputs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102A3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45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📡 今日雷达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14400" y="207568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DCE7F3"/>
                </a:solidFill>
              </a:rPr>
              <a:t>今日新增、最新发现、推荐深入分析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4480560" y="141732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0E2035"/>
          </a:solidFill>
          <a:ln w="1270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645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🧾 InsightCard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709160" y="207568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DCE7F3"/>
                </a:solidFill>
              </a:rPr>
              <a:t>事实、观点、推断、相关性、行动建议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8275320" y="141732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102A3E"/>
          </a:solidFill>
          <a:ln w="12700">
            <a:solidFill>
              <a:srgbClr val="60A5FA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0" y="1645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📊 每日报告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503920" y="207568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DCE7F3"/>
                </a:solidFill>
              </a:rPr>
              <a:t>Top 10–15 条重要动态与主题分布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685800" y="324612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0E2035"/>
          </a:solidFill>
          <a:ln w="12700">
            <a:solidFill>
              <a:srgbClr val="A78BFA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474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🧭 能力变化卡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14400" y="390448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DCE7F3"/>
                </a:solidFill>
              </a:rPr>
              <a:t>Docs/Pricing/Benchmark 变化解释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4480560" y="324612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102A3E"/>
          </a:solidFill>
          <a:ln w="12700">
            <a:solidFill>
              <a:srgbClr val="FBBF24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3474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📚 专题报告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709160" y="390448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DCE7F3"/>
                </a:solidFill>
              </a:rPr>
              <a:t>PDF/政策/行业报告深度编译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8275320" y="324612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0E2035"/>
          </a:solidFill>
          <a:ln w="12700">
            <a:solidFill>
              <a:srgbClr val="FB7185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0" y="3474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✅ Action Task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503920" y="390448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DCE7F3"/>
                </a:solidFill>
              </a:rPr>
              <a:t>转成产品调研、技术验证、代码任务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868680" y="5577840"/>
            <a:ext cx="10469880" cy="502920"/>
          </a:xfrm>
          <a:prstGeom prst="roundRect">
            <a:avLst>
              <a:gd name="adj" fmla="val 14545"/>
            </a:avLst>
          </a:prstGeom>
          <a:solidFill>
            <a:srgbClr val="0A2830"/>
          </a:solidFill>
          <a:ln w="1270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5715000"/>
            <a:ext cx="101955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输出不是“文章列表”，而是服务于决策：今天看什么、为什么重要、和我有什么关系、下一步做什么。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CA3B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823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A：官方/模型公司入口清单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589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候选入口清单，后续需要逐个验证 RSS、Docs、Pricing、Changelog 的稳定性。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11247120" cy="0"/>
          </a:xfrm>
          <a:prstGeom prst="line">
            <a:avLst/>
          </a:prstGeom>
          <a:noFill/>
          <a:ln w="12700">
            <a:solidFill>
              <a:srgbClr val="24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55480" y="347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2C8"/>
                </a:solidFill>
              </a:rPr>
              <a:t>Appendix 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84048" y="1097280"/>
            <a:ext cx="11430000" cy="469669"/>
          </a:xfrm>
          <a:prstGeom prst="rect">
            <a:avLst/>
          </a:prstGeom>
          <a:solidFill>
            <a:srgbClr val="11324D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147572"/>
            <a:ext cx="132588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公司/产品</a:t>
            </a:r>
            <a:endParaRPr lang="en-US" sz="770" dirty="0"/>
          </a:p>
        </p:txBody>
      </p:sp>
      <p:sp>
        <p:nvSpPr>
          <p:cNvPr id="9" name="Shape 7"/>
          <p:cNvSpPr/>
          <p:nvPr/>
        </p:nvSpPr>
        <p:spPr>
          <a:xfrm>
            <a:off x="1801368" y="1097280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47088" y="1147572"/>
            <a:ext cx="320040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官网/新闻</a:t>
            </a:r>
            <a:endParaRPr lang="en-US" sz="770" dirty="0"/>
          </a:p>
        </p:txBody>
      </p:sp>
      <p:sp>
        <p:nvSpPr>
          <p:cNvPr id="11" name="Shape 9"/>
          <p:cNvSpPr/>
          <p:nvPr/>
        </p:nvSpPr>
        <p:spPr>
          <a:xfrm>
            <a:off x="5093208" y="1097280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38928" y="1147572"/>
            <a:ext cx="347472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Docs/API</a:t>
            </a:r>
            <a:endParaRPr lang="en-US" sz="770" dirty="0"/>
          </a:p>
        </p:txBody>
      </p:sp>
      <p:sp>
        <p:nvSpPr>
          <p:cNvPr id="13" name="Shape 11"/>
          <p:cNvSpPr/>
          <p:nvPr/>
        </p:nvSpPr>
        <p:spPr>
          <a:xfrm>
            <a:off x="8659368" y="1097280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05088" y="1147572"/>
            <a:ext cx="306324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重点信号</a:t>
            </a:r>
            <a:endParaRPr lang="en-US" sz="770" dirty="0"/>
          </a:p>
        </p:txBody>
      </p:sp>
      <p:sp>
        <p:nvSpPr>
          <p:cNvPr id="15" name="Shape 13"/>
          <p:cNvSpPr/>
          <p:nvPr/>
        </p:nvSpPr>
        <p:spPr>
          <a:xfrm>
            <a:off x="384048" y="1566949"/>
            <a:ext cx="11430000" cy="469669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1617241"/>
            <a:ext cx="132588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1801368" y="1566949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47088" y="1617241"/>
            <a:ext cx="320040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openai.com/news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5093208" y="1566949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38928" y="1617241"/>
            <a:ext cx="347472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platform.openai.com/docs / openai.com/api/pricing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8659368" y="1566949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05088" y="1617241"/>
            <a:ext cx="306324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GPT/Agent/API/价格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384048" y="2036618"/>
            <a:ext cx="11430000" cy="469669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" y="2086910"/>
            <a:ext cx="132588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1801368" y="2036618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47088" y="2086910"/>
            <a:ext cx="320040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anthropic.com/news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5093208" y="2036618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38928" y="2086910"/>
            <a:ext cx="347472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docs.anthropic.com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8659368" y="2036618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05088" y="2086910"/>
            <a:ext cx="306324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Claude/安全/工具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384048" y="2506287"/>
            <a:ext cx="11430000" cy="469669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9768" y="2556579"/>
            <a:ext cx="132588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Google/DeepMind</a:t>
            </a:r>
            <a:endParaRPr lang="en-US" sz="740" dirty="0"/>
          </a:p>
        </p:txBody>
      </p:sp>
      <p:sp>
        <p:nvSpPr>
          <p:cNvPr id="33" name="Shape 31"/>
          <p:cNvSpPr/>
          <p:nvPr/>
        </p:nvSpPr>
        <p:spPr>
          <a:xfrm>
            <a:off x="1801368" y="2506287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47088" y="2556579"/>
            <a:ext cx="320040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deepmind.google/discover/blog / blog.google/technology/ai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5093208" y="2506287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38928" y="2556579"/>
            <a:ext cx="347472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ai.google.dev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8659368" y="2506287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05088" y="2556579"/>
            <a:ext cx="306324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Gemini/AI Studio</a:t>
            </a:r>
            <a:endParaRPr lang="en-US" sz="740" dirty="0"/>
          </a:p>
        </p:txBody>
      </p:sp>
      <p:sp>
        <p:nvSpPr>
          <p:cNvPr id="39" name="Shape 37"/>
          <p:cNvSpPr/>
          <p:nvPr/>
        </p:nvSpPr>
        <p:spPr>
          <a:xfrm>
            <a:off x="384048" y="2975956"/>
            <a:ext cx="11430000" cy="469669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9768" y="3026248"/>
            <a:ext cx="132588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xAI/Grok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1801368" y="2975956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47088" y="3026248"/>
            <a:ext cx="320040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x.ai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5093208" y="2975956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38928" y="3026248"/>
            <a:ext cx="347472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docs.x.ai</a:t>
            </a:r>
            <a:endParaRPr lang="en-US" sz="740" dirty="0"/>
          </a:p>
        </p:txBody>
      </p:sp>
      <p:sp>
        <p:nvSpPr>
          <p:cNvPr id="45" name="Shape 43"/>
          <p:cNvSpPr/>
          <p:nvPr/>
        </p:nvSpPr>
        <p:spPr>
          <a:xfrm>
            <a:off x="8659368" y="2975956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05088" y="3026248"/>
            <a:ext cx="306324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Grok/API/产品能力</a:t>
            </a:r>
            <a:endParaRPr lang="en-US" sz="740" dirty="0"/>
          </a:p>
        </p:txBody>
      </p:sp>
      <p:sp>
        <p:nvSpPr>
          <p:cNvPr id="47" name="Shape 45"/>
          <p:cNvSpPr/>
          <p:nvPr/>
        </p:nvSpPr>
        <p:spPr>
          <a:xfrm>
            <a:off x="384048" y="3445625"/>
            <a:ext cx="11430000" cy="469669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9768" y="3495917"/>
            <a:ext cx="132588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AI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1801368" y="3445625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847088" y="3495917"/>
            <a:ext cx="320040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ai.meta.com/blog</a:t>
            </a:r>
            <a:endParaRPr lang="en-US" sz="740" dirty="0"/>
          </a:p>
        </p:txBody>
      </p:sp>
      <p:sp>
        <p:nvSpPr>
          <p:cNvPr id="51" name="Shape 49"/>
          <p:cNvSpPr/>
          <p:nvPr/>
        </p:nvSpPr>
        <p:spPr>
          <a:xfrm>
            <a:off x="5093208" y="3445625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38928" y="3495917"/>
            <a:ext cx="347472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llama.meta.com / ai.meta.com</a:t>
            </a:r>
            <a:endParaRPr lang="en-US" sz="740" dirty="0"/>
          </a:p>
        </p:txBody>
      </p:sp>
      <p:sp>
        <p:nvSpPr>
          <p:cNvPr id="53" name="Shape 51"/>
          <p:cNvSpPr/>
          <p:nvPr/>
        </p:nvSpPr>
        <p:spPr>
          <a:xfrm>
            <a:off x="8659368" y="3445625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705088" y="3495917"/>
            <a:ext cx="306324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Llama/SAM/多模态</a:t>
            </a:r>
            <a:endParaRPr lang="en-US" sz="740" dirty="0"/>
          </a:p>
        </p:txBody>
      </p:sp>
      <p:sp>
        <p:nvSpPr>
          <p:cNvPr id="55" name="Shape 53"/>
          <p:cNvSpPr/>
          <p:nvPr/>
        </p:nvSpPr>
        <p:spPr>
          <a:xfrm>
            <a:off x="384048" y="3915295"/>
            <a:ext cx="11430000" cy="469669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9768" y="3965587"/>
            <a:ext cx="132588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AI</a:t>
            </a:r>
            <a:endParaRPr lang="en-US" sz="740" dirty="0"/>
          </a:p>
        </p:txBody>
      </p:sp>
      <p:sp>
        <p:nvSpPr>
          <p:cNvPr id="57" name="Shape 55"/>
          <p:cNvSpPr/>
          <p:nvPr/>
        </p:nvSpPr>
        <p:spPr>
          <a:xfrm>
            <a:off x="1801368" y="3915295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847088" y="3965587"/>
            <a:ext cx="320040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news.microsoft.com/source/topics/ai</a:t>
            </a:r>
            <a:endParaRPr lang="en-US" sz="740" dirty="0"/>
          </a:p>
        </p:txBody>
      </p:sp>
      <p:sp>
        <p:nvSpPr>
          <p:cNvPr id="59" name="Shape 57"/>
          <p:cNvSpPr/>
          <p:nvPr/>
        </p:nvSpPr>
        <p:spPr>
          <a:xfrm>
            <a:off x="5093208" y="3915295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138928" y="3965587"/>
            <a:ext cx="347472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learn.microsoft.com/azure/ai-services</a:t>
            </a:r>
            <a:endParaRPr lang="en-US" sz="740" dirty="0"/>
          </a:p>
        </p:txBody>
      </p:sp>
      <p:sp>
        <p:nvSpPr>
          <p:cNvPr id="61" name="Shape 59"/>
          <p:cNvSpPr/>
          <p:nvPr/>
        </p:nvSpPr>
        <p:spPr>
          <a:xfrm>
            <a:off x="8659368" y="3915295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705088" y="3965587"/>
            <a:ext cx="306324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Copilot/Azure AI</a:t>
            </a:r>
            <a:endParaRPr lang="en-US" sz="740" dirty="0"/>
          </a:p>
        </p:txBody>
      </p:sp>
      <p:sp>
        <p:nvSpPr>
          <p:cNvPr id="63" name="Shape 61"/>
          <p:cNvSpPr/>
          <p:nvPr/>
        </p:nvSpPr>
        <p:spPr>
          <a:xfrm>
            <a:off x="384048" y="4384964"/>
            <a:ext cx="11430000" cy="469669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29768" y="4435256"/>
            <a:ext cx="132588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</a:t>
            </a:r>
            <a:endParaRPr lang="en-US" sz="740" dirty="0"/>
          </a:p>
        </p:txBody>
      </p:sp>
      <p:sp>
        <p:nvSpPr>
          <p:cNvPr id="65" name="Shape 63"/>
          <p:cNvSpPr/>
          <p:nvPr/>
        </p:nvSpPr>
        <p:spPr>
          <a:xfrm>
            <a:off x="1801368" y="4384964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847088" y="4435256"/>
            <a:ext cx="320040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blogs.nvidia.com/blog/category/generative-ai</a:t>
            </a:r>
            <a:endParaRPr lang="en-US" sz="740" dirty="0"/>
          </a:p>
        </p:txBody>
      </p:sp>
      <p:sp>
        <p:nvSpPr>
          <p:cNvPr id="67" name="Shape 65"/>
          <p:cNvSpPr/>
          <p:nvPr/>
        </p:nvSpPr>
        <p:spPr>
          <a:xfrm>
            <a:off x="5093208" y="4384964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138928" y="4435256"/>
            <a:ext cx="347472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developer.nvidia.com/ai</a:t>
            </a:r>
            <a:endParaRPr lang="en-US" sz="740" dirty="0"/>
          </a:p>
        </p:txBody>
      </p:sp>
      <p:sp>
        <p:nvSpPr>
          <p:cNvPr id="69" name="Shape 67"/>
          <p:cNvSpPr/>
          <p:nvPr/>
        </p:nvSpPr>
        <p:spPr>
          <a:xfrm>
            <a:off x="8659368" y="4384964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705088" y="4435256"/>
            <a:ext cx="306324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GPU/机器人/Agentic AI</a:t>
            </a:r>
            <a:endParaRPr lang="en-US" sz="740" dirty="0"/>
          </a:p>
        </p:txBody>
      </p:sp>
      <p:sp>
        <p:nvSpPr>
          <p:cNvPr id="71" name="Shape 69"/>
          <p:cNvSpPr/>
          <p:nvPr/>
        </p:nvSpPr>
        <p:spPr>
          <a:xfrm>
            <a:off x="384048" y="4854633"/>
            <a:ext cx="11430000" cy="469669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29768" y="4904925"/>
            <a:ext cx="132588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Mistral</a:t>
            </a:r>
            <a:endParaRPr lang="en-US" sz="740" dirty="0"/>
          </a:p>
        </p:txBody>
      </p:sp>
      <p:sp>
        <p:nvSpPr>
          <p:cNvPr id="73" name="Shape 71"/>
          <p:cNvSpPr/>
          <p:nvPr/>
        </p:nvSpPr>
        <p:spPr>
          <a:xfrm>
            <a:off x="1801368" y="4854633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847088" y="4904925"/>
            <a:ext cx="320040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mistral.ai/news</a:t>
            </a:r>
            <a:endParaRPr lang="en-US" sz="740" dirty="0"/>
          </a:p>
        </p:txBody>
      </p:sp>
      <p:sp>
        <p:nvSpPr>
          <p:cNvPr id="75" name="Shape 73"/>
          <p:cNvSpPr/>
          <p:nvPr/>
        </p:nvSpPr>
        <p:spPr>
          <a:xfrm>
            <a:off x="5093208" y="4854633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138928" y="4904925"/>
            <a:ext cx="347472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docs.mistral.ai</a:t>
            </a:r>
            <a:endParaRPr lang="en-US" sz="740" dirty="0"/>
          </a:p>
        </p:txBody>
      </p:sp>
      <p:sp>
        <p:nvSpPr>
          <p:cNvPr id="77" name="Shape 75"/>
          <p:cNvSpPr/>
          <p:nvPr/>
        </p:nvSpPr>
        <p:spPr>
          <a:xfrm>
            <a:off x="8659368" y="4854633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705088" y="4904925"/>
            <a:ext cx="306324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欧洲模型/API</a:t>
            </a:r>
            <a:endParaRPr lang="en-US" sz="740" dirty="0"/>
          </a:p>
        </p:txBody>
      </p:sp>
      <p:sp>
        <p:nvSpPr>
          <p:cNvPr id="79" name="Shape 77"/>
          <p:cNvSpPr/>
          <p:nvPr/>
        </p:nvSpPr>
        <p:spPr>
          <a:xfrm>
            <a:off x="384048" y="5324302"/>
            <a:ext cx="11430000" cy="469669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29768" y="5374594"/>
            <a:ext cx="132588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Cohere</a:t>
            </a:r>
            <a:endParaRPr lang="en-US" sz="740" dirty="0"/>
          </a:p>
        </p:txBody>
      </p:sp>
      <p:sp>
        <p:nvSpPr>
          <p:cNvPr id="81" name="Shape 79"/>
          <p:cNvSpPr/>
          <p:nvPr/>
        </p:nvSpPr>
        <p:spPr>
          <a:xfrm>
            <a:off x="1801368" y="5324302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847088" y="5374594"/>
            <a:ext cx="320040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cohere.com/blog</a:t>
            </a:r>
            <a:endParaRPr lang="en-US" sz="740" dirty="0"/>
          </a:p>
        </p:txBody>
      </p:sp>
      <p:sp>
        <p:nvSpPr>
          <p:cNvPr id="83" name="Shape 81"/>
          <p:cNvSpPr/>
          <p:nvPr/>
        </p:nvSpPr>
        <p:spPr>
          <a:xfrm>
            <a:off x="5093208" y="5324302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138928" y="5374594"/>
            <a:ext cx="347472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docs.cohere.com</a:t>
            </a:r>
            <a:endParaRPr lang="en-US" sz="740" dirty="0"/>
          </a:p>
        </p:txBody>
      </p:sp>
      <p:sp>
        <p:nvSpPr>
          <p:cNvPr id="85" name="Shape 83"/>
          <p:cNvSpPr/>
          <p:nvPr/>
        </p:nvSpPr>
        <p:spPr>
          <a:xfrm>
            <a:off x="8659368" y="5324302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705088" y="5374594"/>
            <a:ext cx="306324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 RAG/Command</a:t>
            </a:r>
            <a:endParaRPr lang="en-US" sz="740" dirty="0"/>
          </a:p>
        </p:txBody>
      </p:sp>
      <p:sp>
        <p:nvSpPr>
          <p:cNvPr id="87" name="Shape 85"/>
          <p:cNvSpPr/>
          <p:nvPr/>
        </p:nvSpPr>
        <p:spPr>
          <a:xfrm>
            <a:off x="384048" y="5793971"/>
            <a:ext cx="11430000" cy="469669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29768" y="5844263"/>
            <a:ext cx="132588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MiniMax</a:t>
            </a:r>
            <a:endParaRPr lang="en-US" sz="740" dirty="0"/>
          </a:p>
        </p:txBody>
      </p:sp>
      <p:sp>
        <p:nvSpPr>
          <p:cNvPr id="89" name="Shape 87"/>
          <p:cNvSpPr/>
          <p:nvPr/>
        </p:nvSpPr>
        <p:spPr>
          <a:xfrm>
            <a:off x="1801368" y="5793971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847088" y="5844263"/>
            <a:ext cx="320040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minimaxi.com</a:t>
            </a:r>
            <a:endParaRPr lang="en-US" sz="740" dirty="0"/>
          </a:p>
        </p:txBody>
      </p:sp>
      <p:sp>
        <p:nvSpPr>
          <p:cNvPr id="91" name="Shape 89"/>
          <p:cNvSpPr/>
          <p:nvPr/>
        </p:nvSpPr>
        <p:spPr>
          <a:xfrm>
            <a:off x="5093208" y="5793971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138928" y="5844263"/>
            <a:ext cx="347472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platform.minimaxi.com</a:t>
            </a:r>
            <a:endParaRPr lang="en-US" sz="740" dirty="0"/>
          </a:p>
        </p:txBody>
      </p:sp>
      <p:sp>
        <p:nvSpPr>
          <p:cNvPr id="93" name="Shape 91"/>
          <p:cNvSpPr/>
          <p:nvPr/>
        </p:nvSpPr>
        <p:spPr>
          <a:xfrm>
            <a:off x="8659368" y="5793971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705088" y="5844263"/>
            <a:ext cx="306324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TTS/音乐/视频/多模态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CA3B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823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B：区域/基础设施/推理平台入口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589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用于补充“全球”视角，以及开发者模型选型与成本比较。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11247120" cy="0"/>
          </a:xfrm>
          <a:prstGeom prst="line">
            <a:avLst/>
          </a:prstGeom>
          <a:noFill/>
          <a:ln w="12700">
            <a:solidFill>
              <a:srgbClr val="24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55480" y="347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2C8"/>
                </a:solidFill>
              </a:rPr>
              <a:t>Appendix B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84048" y="1097280"/>
            <a:ext cx="11430000" cy="469669"/>
          </a:xfrm>
          <a:prstGeom prst="rect">
            <a:avLst/>
          </a:prstGeom>
          <a:solidFill>
            <a:srgbClr val="11324D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147572"/>
            <a:ext cx="114300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</a:t>
            </a:r>
            <a:endParaRPr lang="en-US" sz="770" dirty="0"/>
          </a:p>
        </p:txBody>
      </p:sp>
      <p:sp>
        <p:nvSpPr>
          <p:cNvPr id="9" name="Shape 7"/>
          <p:cNvSpPr/>
          <p:nvPr/>
        </p:nvSpPr>
        <p:spPr>
          <a:xfrm>
            <a:off x="1618488" y="1097280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64208" y="1147572"/>
            <a:ext cx="192024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770" dirty="0"/>
          </a:p>
        </p:txBody>
      </p:sp>
      <p:sp>
        <p:nvSpPr>
          <p:cNvPr id="11" name="Shape 9"/>
          <p:cNvSpPr/>
          <p:nvPr/>
        </p:nvSpPr>
        <p:spPr>
          <a:xfrm>
            <a:off x="3630168" y="1097280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5888" y="1147572"/>
            <a:ext cx="397764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URL</a:t>
            </a:r>
            <a:endParaRPr lang="en-US" sz="770" dirty="0"/>
          </a:p>
        </p:txBody>
      </p:sp>
      <p:sp>
        <p:nvSpPr>
          <p:cNvPr id="13" name="Shape 11"/>
          <p:cNvSpPr/>
          <p:nvPr/>
        </p:nvSpPr>
        <p:spPr>
          <a:xfrm>
            <a:off x="7699248" y="1097280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44968" y="1147572"/>
            <a:ext cx="402336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</a:t>
            </a:r>
            <a:endParaRPr lang="en-US" sz="770" dirty="0"/>
          </a:p>
        </p:txBody>
      </p:sp>
      <p:sp>
        <p:nvSpPr>
          <p:cNvPr id="15" name="Shape 13"/>
          <p:cNvSpPr/>
          <p:nvPr/>
        </p:nvSpPr>
        <p:spPr>
          <a:xfrm>
            <a:off x="384048" y="1566949"/>
            <a:ext cx="11430000" cy="469669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1617241"/>
            <a:ext cx="114300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中国模型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1618488" y="1566949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64208" y="1617241"/>
            <a:ext cx="192024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3630168" y="1566949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75888" y="1617241"/>
            <a:ext cx="397764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deepseek.com / api-docs.deepseek.com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7699248" y="1566949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44968" y="1617241"/>
            <a:ext cx="402336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低成本推理/API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384048" y="2036618"/>
            <a:ext cx="11430000" cy="469669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" y="2086910"/>
            <a:ext cx="114300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中国模型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1618488" y="2036618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64208" y="2086910"/>
            <a:ext cx="192024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3630168" y="2036618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75888" y="2086910"/>
            <a:ext cx="397764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qwenlm.github.io / ModelScope / 阿里云百炼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7699248" y="2036618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44968" y="2086910"/>
            <a:ext cx="402336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开源与商业 API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384048" y="2506287"/>
            <a:ext cx="11430000" cy="469669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9768" y="2556579"/>
            <a:ext cx="114300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中国模型</a:t>
            </a:r>
            <a:endParaRPr lang="en-US" sz="740" dirty="0"/>
          </a:p>
        </p:txBody>
      </p:sp>
      <p:sp>
        <p:nvSpPr>
          <p:cNvPr id="33" name="Shape 31"/>
          <p:cNvSpPr/>
          <p:nvPr/>
        </p:nvSpPr>
        <p:spPr>
          <a:xfrm>
            <a:off x="1618488" y="2506287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64208" y="2556579"/>
            <a:ext cx="192024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智谱 GLM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3630168" y="2506287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75888" y="2556579"/>
            <a:ext cx="397764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zhipuai.cn / open.bigmodel.cn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7699248" y="2506287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44968" y="2556579"/>
            <a:ext cx="402336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 LLM API</a:t>
            </a:r>
            <a:endParaRPr lang="en-US" sz="740" dirty="0"/>
          </a:p>
        </p:txBody>
      </p:sp>
      <p:sp>
        <p:nvSpPr>
          <p:cNvPr id="39" name="Shape 37"/>
          <p:cNvSpPr/>
          <p:nvPr/>
        </p:nvSpPr>
        <p:spPr>
          <a:xfrm>
            <a:off x="384048" y="2975956"/>
            <a:ext cx="11430000" cy="469669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9768" y="3026248"/>
            <a:ext cx="114300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中国模型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1618488" y="2975956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664208" y="3026248"/>
            <a:ext cx="192024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Moonshot Kimi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3630168" y="2975956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75888" y="3026248"/>
            <a:ext cx="397764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moonshot.cn / platform.moonshot.cn</a:t>
            </a:r>
            <a:endParaRPr lang="en-US" sz="740" dirty="0"/>
          </a:p>
        </p:txBody>
      </p:sp>
      <p:sp>
        <p:nvSpPr>
          <p:cNvPr id="45" name="Shape 43"/>
          <p:cNvSpPr/>
          <p:nvPr/>
        </p:nvSpPr>
        <p:spPr>
          <a:xfrm>
            <a:off x="7699248" y="2975956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44968" y="3026248"/>
            <a:ext cx="402336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长上下文/助手</a:t>
            </a:r>
            <a:endParaRPr lang="en-US" sz="740" dirty="0"/>
          </a:p>
        </p:txBody>
      </p:sp>
      <p:sp>
        <p:nvSpPr>
          <p:cNvPr id="47" name="Shape 45"/>
          <p:cNvSpPr/>
          <p:nvPr/>
        </p:nvSpPr>
        <p:spPr>
          <a:xfrm>
            <a:off x="384048" y="3445625"/>
            <a:ext cx="11430000" cy="469669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9768" y="3495917"/>
            <a:ext cx="114300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日本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1618488" y="3445625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664208" y="3495917"/>
            <a:ext cx="192024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Sakana AI</a:t>
            </a:r>
            <a:endParaRPr lang="en-US" sz="740" dirty="0"/>
          </a:p>
        </p:txBody>
      </p:sp>
      <p:sp>
        <p:nvSpPr>
          <p:cNvPr id="51" name="Shape 49"/>
          <p:cNvSpPr/>
          <p:nvPr/>
        </p:nvSpPr>
        <p:spPr>
          <a:xfrm>
            <a:off x="3630168" y="3445625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75888" y="3495917"/>
            <a:ext cx="397764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sakana.ai/research</a:t>
            </a:r>
            <a:endParaRPr lang="en-US" sz="740" dirty="0"/>
          </a:p>
        </p:txBody>
      </p:sp>
      <p:sp>
        <p:nvSpPr>
          <p:cNvPr id="53" name="Shape 51"/>
          <p:cNvSpPr/>
          <p:nvPr/>
        </p:nvSpPr>
        <p:spPr>
          <a:xfrm>
            <a:off x="7699248" y="3445625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744968" y="3495917"/>
            <a:ext cx="402336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研究方向/模型</a:t>
            </a:r>
            <a:endParaRPr lang="en-US" sz="740" dirty="0"/>
          </a:p>
        </p:txBody>
      </p:sp>
      <p:sp>
        <p:nvSpPr>
          <p:cNvPr id="55" name="Shape 53"/>
          <p:cNvSpPr/>
          <p:nvPr/>
        </p:nvSpPr>
        <p:spPr>
          <a:xfrm>
            <a:off x="384048" y="3915295"/>
            <a:ext cx="11430000" cy="469669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9768" y="3965587"/>
            <a:ext cx="114300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推理平台</a:t>
            </a:r>
            <a:endParaRPr lang="en-US" sz="740" dirty="0"/>
          </a:p>
        </p:txBody>
      </p:sp>
      <p:sp>
        <p:nvSpPr>
          <p:cNvPr id="57" name="Shape 55"/>
          <p:cNvSpPr/>
          <p:nvPr/>
        </p:nvSpPr>
        <p:spPr>
          <a:xfrm>
            <a:off x="1618488" y="3915295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664208" y="3965587"/>
            <a:ext cx="192024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Groq</a:t>
            </a:r>
            <a:endParaRPr lang="en-US" sz="740" dirty="0"/>
          </a:p>
        </p:txBody>
      </p:sp>
      <p:sp>
        <p:nvSpPr>
          <p:cNvPr id="59" name="Shape 57"/>
          <p:cNvSpPr/>
          <p:nvPr/>
        </p:nvSpPr>
        <p:spPr>
          <a:xfrm>
            <a:off x="3630168" y="3915295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675888" y="3965587"/>
            <a:ext cx="397764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console.groq.com/docs</a:t>
            </a:r>
            <a:endParaRPr lang="en-US" sz="740" dirty="0"/>
          </a:p>
        </p:txBody>
      </p:sp>
      <p:sp>
        <p:nvSpPr>
          <p:cNvPr id="61" name="Shape 59"/>
          <p:cNvSpPr/>
          <p:nvPr/>
        </p:nvSpPr>
        <p:spPr>
          <a:xfrm>
            <a:off x="7699248" y="3915295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744968" y="3965587"/>
            <a:ext cx="402336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高速推理</a:t>
            </a:r>
            <a:endParaRPr lang="en-US" sz="740" dirty="0"/>
          </a:p>
        </p:txBody>
      </p:sp>
      <p:sp>
        <p:nvSpPr>
          <p:cNvPr id="63" name="Shape 61"/>
          <p:cNvSpPr/>
          <p:nvPr/>
        </p:nvSpPr>
        <p:spPr>
          <a:xfrm>
            <a:off x="384048" y="4384964"/>
            <a:ext cx="11430000" cy="469669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29768" y="4435256"/>
            <a:ext cx="114300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推理平台</a:t>
            </a:r>
            <a:endParaRPr lang="en-US" sz="740" dirty="0"/>
          </a:p>
        </p:txBody>
      </p:sp>
      <p:sp>
        <p:nvSpPr>
          <p:cNvPr id="65" name="Shape 63"/>
          <p:cNvSpPr/>
          <p:nvPr/>
        </p:nvSpPr>
        <p:spPr>
          <a:xfrm>
            <a:off x="1618488" y="4384964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664208" y="4435256"/>
            <a:ext cx="192024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Together AI</a:t>
            </a:r>
            <a:endParaRPr lang="en-US" sz="740" dirty="0"/>
          </a:p>
        </p:txBody>
      </p:sp>
      <p:sp>
        <p:nvSpPr>
          <p:cNvPr id="67" name="Shape 65"/>
          <p:cNvSpPr/>
          <p:nvPr/>
        </p:nvSpPr>
        <p:spPr>
          <a:xfrm>
            <a:off x="3630168" y="4384964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675888" y="4435256"/>
            <a:ext cx="397764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docs.together.ai</a:t>
            </a:r>
            <a:endParaRPr lang="en-US" sz="740" dirty="0"/>
          </a:p>
        </p:txBody>
      </p:sp>
      <p:sp>
        <p:nvSpPr>
          <p:cNvPr id="69" name="Shape 67"/>
          <p:cNvSpPr/>
          <p:nvPr/>
        </p:nvSpPr>
        <p:spPr>
          <a:xfrm>
            <a:off x="7699248" y="4384964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744968" y="4435256"/>
            <a:ext cx="402336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开源模型推理</a:t>
            </a:r>
            <a:endParaRPr lang="en-US" sz="740" dirty="0"/>
          </a:p>
        </p:txBody>
      </p:sp>
      <p:sp>
        <p:nvSpPr>
          <p:cNvPr id="71" name="Shape 69"/>
          <p:cNvSpPr/>
          <p:nvPr/>
        </p:nvSpPr>
        <p:spPr>
          <a:xfrm>
            <a:off x="384048" y="4854633"/>
            <a:ext cx="11430000" cy="469669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29768" y="4904925"/>
            <a:ext cx="114300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推理平台</a:t>
            </a:r>
            <a:endParaRPr lang="en-US" sz="740" dirty="0"/>
          </a:p>
        </p:txBody>
      </p:sp>
      <p:sp>
        <p:nvSpPr>
          <p:cNvPr id="73" name="Shape 71"/>
          <p:cNvSpPr/>
          <p:nvPr/>
        </p:nvSpPr>
        <p:spPr>
          <a:xfrm>
            <a:off x="1618488" y="4854633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664208" y="4904925"/>
            <a:ext cx="192024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Fireworks AI</a:t>
            </a:r>
            <a:endParaRPr lang="en-US" sz="740" dirty="0"/>
          </a:p>
        </p:txBody>
      </p:sp>
      <p:sp>
        <p:nvSpPr>
          <p:cNvPr id="75" name="Shape 73"/>
          <p:cNvSpPr/>
          <p:nvPr/>
        </p:nvSpPr>
        <p:spPr>
          <a:xfrm>
            <a:off x="3630168" y="4854633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675888" y="4904925"/>
            <a:ext cx="397764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docs.fireworks.ai</a:t>
            </a:r>
            <a:endParaRPr lang="en-US" sz="740" dirty="0"/>
          </a:p>
        </p:txBody>
      </p:sp>
      <p:sp>
        <p:nvSpPr>
          <p:cNvPr id="77" name="Shape 75"/>
          <p:cNvSpPr/>
          <p:nvPr/>
        </p:nvSpPr>
        <p:spPr>
          <a:xfrm>
            <a:off x="7699248" y="4854633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744968" y="4904925"/>
            <a:ext cx="402336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模型托管/推理</a:t>
            </a:r>
            <a:endParaRPr lang="en-US" sz="740" dirty="0"/>
          </a:p>
        </p:txBody>
      </p:sp>
      <p:sp>
        <p:nvSpPr>
          <p:cNvPr id="79" name="Shape 77"/>
          <p:cNvSpPr/>
          <p:nvPr/>
        </p:nvSpPr>
        <p:spPr>
          <a:xfrm>
            <a:off x="384048" y="5324302"/>
            <a:ext cx="11430000" cy="469669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29768" y="5374594"/>
            <a:ext cx="114300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推理平台</a:t>
            </a:r>
            <a:endParaRPr lang="en-US" sz="740" dirty="0"/>
          </a:p>
        </p:txBody>
      </p:sp>
      <p:sp>
        <p:nvSpPr>
          <p:cNvPr id="81" name="Shape 79"/>
          <p:cNvSpPr/>
          <p:nvPr/>
        </p:nvSpPr>
        <p:spPr>
          <a:xfrm>
            <a:off x="1618488" y="5324302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664208" y="5374594"/>
            <a:ext cx="192024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Replicate</a:t>
            </a:r>
            <a:endParaRPr lang="en-US" sz="740" dirty="0"/>
          </a:p>
        </p:txBody>
      </p:sp>
      <p:sp>
        <p:nvSpPr>
          <p:cNvPr id="83" name="Shape 81"/>
          <p:cNvSpPr/>
          <p:nvPr/>
        </p:nvSpPr>
        <p:spPr>
          <a:xfrm>
            <a:off x="3630168" y="5324302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675888" y="5374594"/>
            <a:ext cx="397764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replicate.com</a:t>
            </a:r>
            <a:endParaRPr lang="en-US" sz="740" dirty="0"/>
          </a:p>
        </p:txBody>
      </p:sp>
      <p:sp>
        <p:nvSpPr>
          <p:cNvPr id="85" name="Shape 83"/>
          <p:cNvSpPr/>
          <p:nvPr/>
        </p:nvSpPr>
        <p:spPr>
          <a:xfrm>
            <a:off x="7699248" y="5324302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744968" y="5374594"/>
            <a:ext cx="402336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多模型 API/价格</a:t>
            </a:r>
            <a:endParaRPr lang="en-US" sz="740" dirty="0"/>
          </a:p>
        </p:txBody>
      </p:sp>
      <p:sp>
        <p:nvSpPr>
          <p:cNvPr id="87" name="Shape 85"/>
          <p:cNvSpPr/>
          <p:nvPr/>
        </p:nvSpPr>
        <p:spPr>
          <a:xfrm>
            <a:off x="384048" y="5793971"/>
            <a:ext cx="11430000" cy="469669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29768" y="5844263"/>
            <a:ext cx="114300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模型市场</a:t>
            </a:r>
            <a:endParaRPr lang="en-US" sz="740" dirty="0"/>
          </a:p>
        </p:txBody>
      </p:sp>
      <p:sp>
        <p:nvSpPr>
          <p:cNvPr id="89" name="Shape 87"/>
          <p:cNvSpPr/>
          <p:nvPr/>
        </p:nvSpPr>
        <p:spPr>
          <a:xfrm>
            <a:off x="1618488" y="5793971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664208" y="5844263"/>
            <a:ext cx="192024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OpenRouter</a:t>
            </a:r>
            <a:endParaRPr lang="en-US" sz="740" dirty="0"/>
          </a:p>
        </p:txBody>
      </p:sp>
      <p:sp>
        <p:nvSpPr>
          <p:cNvPr id="91" name="Shape 89"/>
          <p:cNvSpPr/>
          <p:nvPr/>
        </p:nvSpPr>
        <p:spPr>
          <a:xfrm>
            <a:off x="3630168" y="5793971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675888" y="5844263"/>
            <a:ext cx="397764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openrouter.ai/models</a:t>
            </a:r>
            <a:endParaRPr lang="en-US" sz="740" dirty="0"/>
          </a:p>
        </p:txBody>
      </p:sp>
      <p:sp>
        <p:nvSpPr>
          <p:cNvPr id="93" name="Shape 91"/>
          <p:cNvSpPr/>
          <p:nvPr/>
        </p:nvSpPr>
        <p:spPr>
          <a:xfrm>
            <a:off x="7699248" y="5793971"/>
            <a:ext cx="0" cy="469669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744968" y="5844263"/>
            <a:ext cx="4023360" cy="39651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多模型聚合/价格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CA3B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823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C：Benchmark / 开源 / 论文入口清单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589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用于补齐“模型是否真强”和“开发者能否落地”的证据链。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11247120" cy="0"/>
          </a:xfrm>
          <a:prstGeom prst="line">
            <a:avLst/>
          </a:prstGeom>
          <a:noFill/>
          <a:ln w="12700">
            <a:solidFill>
              <a:srgbClr val="24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55480" y="347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2C8"/>
                </a:solidFill>
              </a:rPr>
              <a:t>Appendix C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84048" y="1097280"/>
            <a:ext cx="11430000" cy="516636"/>
          </a:xfrm>
          <a:prstGeom prst="rect">
            <a:avLst/>
          </a:prstGeom>
          <a:solidFill>
            <a:srgbClr val="11324D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147572"/>
            <a:ext cx="1234440" cy="4434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类别</a:t>
            </a:r>
            <a:endParaRPr lang="en-US" sz="770" dirty="0"/>
          </a:p>
        </p:txBody>
      </p:sp>
      <p:sp>
        <p:nvSpPr>
          <p:cNvPr id="9" name="Shape 7"/>
          <p:cNvSpPr/>
          <p:nvPr/>
        </p:nvSpPr>
        <p:spPr>
          <a:xfrm>
            <a:off x="1709928" y="1097280"/>
            <a:ext cx="0" cy="516636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55648" y="1147572"/>
            <a:ext cx="2240280" cy="4434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770" dirty="0"/>
          </a:p>
        </p:txBody>
      </p:sp>
      <p:sp>
        <p:nvSpPr>
          <p:cNvPr id="11" name="Shape 9"/>
          <p:cNvSpPr/>
          <p:nvPr/>
        </p:nvSpPr>
        <p:spPr>
          <a:xfrm>
            <a:off x="4041648" y="1097280"/>
            <a:ext cx="0" cy="516636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87368" y="1147572"/>
            <a:ext cx="3886200" cy="4434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URL</a:t>
            </a:r>
            <a:endParaRPr lang="en-US" sz="770" dirty="0"/>
          </a:p>
        </p:txBody>
      </p:sp>
      <p:sp>
        <p:nvSpPr>
          <p:cNvPr id="13" name="Shape 11"/>
          <p:cNvSpPr/>
          <p:nvPr/>
        </p:nvSpPr>
        <p:spPr>
          <a:xfrm>
            <a:off x="8019288" y="1097280"/>
            <a:ext cx="0" cy="516636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65008" y="1147572"/>
            <a:ext cx="3703320" cy="4434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</a:t>
            </a:r>
            <a:endParaRPr lang="en-US" sz="770" dirty="0"/>
          </a:p>
        </p:txBody>
      </p:sp>
      <p:sp>
        <p:nvSpPr>
          <p:cNvPr id="15" name="Shape 13"/>
          <p:cNvSpPr/>
          <p:nvPr/>
        </p:nvSpPr>
        <p:spPr>
          <a:xfrm>
            <a:off x="384048" y="1613916"/>
            <a:ext cx="11430000" cy="516636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1664208"/>
            <a:ext cx="1234440" cy="4434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Benchmark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1709928" y="1613916"/>
            <a:ext cx="0" cy="516636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55648" y="1664208"/>
            <a:ext cx="2240280" cy="4434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Chatbot Arena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4041648" y="1613916"/>
            <a:ext cx="0" cy="516636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87368" y="1664208"/>
            <a:ext cx="3886200" cy="4434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lmarena.ai / HF Space leaderboard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8019288" y="1613916"/>
            <a:ext cx="0" cy="516636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65008" y="1664208"/>
            <a:ext cx="3703320" cy="4434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模型用户偏好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384048" y="2130552"/>
            <a:ext cx="11430000" cy="516636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" y="2180844"/>
            <a:ext cx="1234440" cy="4434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Benchmark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1709928" y="2130552"/>
            <a:ext cx="0" cy="516636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55648" y="2180844"/>
            <a:ext cx="2240280" cy="4434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Artificial Analysis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4041648" y="2130552"/>
            <a:ext cx="0" cy="516636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87368" y="2180844"/>
            <a:ext cx="3886200" cy="4434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artificialanalysis.ai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8019288" y="2130552"/>
            <a:ext cx="0" cy="516636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65008" y="2180844"/>
            <a:ext cx="3703320" cy="4434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质量/速度/价格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384048" y="2647188"/>
            <a:ext cx="11430000" cy="516636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9768" y="2697480"/>
            <a:ext cx="1234440" cy="4434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Benchmark</a:t>
            </a:r>
            <a:endParaRPr lang="en-US" sz="740" dirty="0"/>
          </a:p>
        </p:txBody>
      </p:sp>
      <p:sp>
        <p:nvSpPr>
          <p:cNvPr id="33" name="Shape 31"/>
          <p:cNvSpPr/>
          <p:nvPr/>
        </p:nvSpPr>
        <p:spPr>
          <a:xfrm>
            <a:off x="1709928" y="2647188"/>
            <a:ext cx="0" cy="516636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55648" y="2697480"/>
            <a:ext cx="2240280" cy="4434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SWE-bench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4041648" y="2647188"/>
            <a:ext cx="0" cy="516636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87368" y="2697480"/>
            <a:ext cx="3886200" cy="4434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swebench.com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8019288" y="2647188"/>
            <a:ext cx="0" cy="516636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65008" y="2697480"/>
            <a:ext cx="3703320" cy="4434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软件工程 Agent</a:t>
            </a:r>
            <a:endParaRPr lang="en-US" sz="740" dirty="0"/>
          </a:p>
        </p:txBody>
      </p:sp>
      <p:sp>
        <p:nvSpPr>
          <p:cNvPr id="39" name="Shape 37"/>
          <p:cNvSpPr/>
          <p:nvPr/>
        </p:nvSpPr>
        <p:spPr>
          <a:xfrm>
            <a:off x="384048" y="3163824"/>
            <a:ext cx="11430000" cy="516636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9768" y="3214116"/>
            <a:ext cx="1234440" cy="4434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Benchmark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1709928" y="3163824"/>
            <a:ext cx="0" cy="516636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755648" y="3214116"/>
            <a:ext cx="2240280" cy="4434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LiveCodeBench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4041648" y="3163824"/>
            <a:ext cx="0" cy="516636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87368" y="3214116"/>
            <a:ext cx="3886200" cy="4434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livecodebench.github.io/leaderboard.html</a:t>
            </a:r>
            <a:endParaRPr lang="en-US" sz="740" dirty="0"/>
          </a:p>
        </p:txBody>
      </p:sp>
      <p:sp>
        <p:nvSpPr>
          <p:cNvPr id="45" name="Shape 43"/>
          <p:cNvSpPr/>
          <p:nvPr/>
        </p:nvSpPr>
        <p:spPr>
          <a:xfrm>
            <a:off x="8019288" y="3163824"/>
            <a:ext cx="0" cy="516636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65008" y="3214116"/>
            <a:ext cx="3703320" cy="4434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代码能力</a:t>
            </a:r>
            <a:endParaRPr lang="en-US" sz="740" dirty="0"/>
          </a:p>
        </p:txBody>
      </p:sp>
      <p:sp>
        <p:nvSpPr>
          <p:cNvPr id="47" name="Shape 45"/>
          <p:cNvSpPr/>
          <p:nvPr/>
        </p:nvSpPr>
        <p:spPr>
          <a:xfrm>
            <a:off x="384048" y="3680460"/>
            <a:ext cx="11430000" cy="516636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9768" y="3730752"/>
            <a:ext cx="1234440" cy="4434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1709928" y="3680460"/>
            <a:ext cx="0" cy="516636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755648" y="3730752"/>
            <a:ext cx="2240280" cy="4434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arXiv</a:t>
            </a:r>
            <a:endParaRPr lang="en-US" sz="740" dirty="0"/>
          </a:p>
        </p:txBody>
      </p:sp>
      <p:sp>
        <p:nvSpPr>
          <p:cNvPr id="51" name="Shape 49"/>
          <p:cNvSpPr/>
          <p:nvPr/>
        </p:nvSpPr>
        <p:spPr>
          <a:xfrm>
            <a:off x="4041648" y="3680460"/>
            <a:ext cx="0" cy="516636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087368" y="3730752"/>
            <a:ext cx="3886200" cy="4434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export.arxiv.org/rss/cs.AI / cs.CL / cs.LG</a:t>
            </a:r>
            <a:endParaRPr lang="en-US" sz="740" dirty="0"/>
          </a:p>
        </p:txBody>
      </p:sp>
      <p:sp>
        <p:nvSpPr>
          <p:cNvPr id="53" name="Shape 51"/>
          <p:cNvSpPr/>
          <p:nvPr/>
        </p:nvSpPr>
        <p:spPr>
          <a:xfrm>
            <a:off x="8019288" y="3680460"/>
            <a:ext cx="0" cy="516636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065008" y="3730752"/>
            <a:ext cx="3703320" cy="4434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早期研究趋势</a:t>
            </a:r>
            <a:endParaRPr lang="en-US" sz="740" dirty="0"/>
          </a:p>
        </p:txBody>
      </p:sp>
      <p:sp>
        <p:nvSpPr>
          <p:cNvPr id="55" name="Shape 53"/>
          <p:cNvSpPr/>
          <p:nvPr/>
        </p:nvSpPr>
        <p:spPr>
          <a:xfrm>
            <a:off x="384048" y="4197096"/>
            <a:ext cx="11430000" cy="516636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9768" y="4247388"/>
            <a:ext cx="1234440" cy="4434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</a:t>
            </a:r>
            <a:endParaRPr lang="en-US" sz="740" dirty="0"/>
          </a:p>
        </p:txBody>
      </p:sp>
      <p:sp>
        <p:nvSpPr>
          <p:cNvPr id="57" name="Shape 55"/>
          <p:cNvSpPr/>
          <p:nvPr/>
        </p:nvSpPr>
        <p:spPr>
          <a:xfrm>
            <a:off x="1709928" y="4197096"/>
            <a:ext cx="0" cy="516636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755648" y="4247388"/>
            <a:ext cx="2240280" cy="4434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Papers with Code</a:t>
            </a:r>
            <a:endParaRPr lang="en-US" sz="740" dirty="0"/>
          </a:p>
        </p:txBody>
      </p:sp>
      <p:sp>
        <p:nvSpPr>
          <p:cNvPr id="59" name="Shape 57"/>
          <p:cNvSpPr/>
          <p:nvPr/>
        </p:nvSpPr>
        <p:spPr>
          <a:xfrm>
            <a:off x="4041648" y="4197096"/>
            <a:ext cx="0" cy="516636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087368" y="4247388"/>
            <a:ext cx="3886200" cy="4434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paperswithcode.com</a:t>
            </a:r>
            <a:endParaRPr lang="en-US" sz="740" dirty="0"/>
          </a:p>
        </p:txBody>
      </p:sp>
      <p:sp>
        <p:nvSpPr>
          <p:cNvPr id="61" name="Shape 59"/>
          <p:cNvSpPr/>
          <p:nvPr/>
        </p:nvSpPr>
        <p:spPr>
          <a:xfrm>
            <a:off x="8019288" y="4197096"/>
            <a:ext cx="0" cy="516636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065008" y="4247388"/>
            <a:ext cx="3703320" cy="4434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SOTA/代码链接</a:t>
            </a:r>
            <a:endParaRPr lang="en-US" sz="740" dirty="0"/>
          </a:p>
        </p:txBody>
      </p:sp>
      <p:sp>
        <p:nvSpPr>
          <p:cNvPr id="63" name="Shape 61"/>
          <p:cNvSpPr/>
          <p:nvPr/>
        </p:nvSpPr>
        <p:spPr>
          <a:xfrm>
            <a:off x="384048" y="4713732"/>
            <a:ext cx="11430000" cy="516636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29768" y="4764024"/>
            <a:ext cx="1234440" cy="4434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</a:t>
            </a:r>
            <a:endParaRPr lang="en-US" sz="740" dirty="0"/>
          </a:p>
        </p:txBody>
      </p:sp>
      <p:sp>
        <p:nvSpPr>
          <p:cNvPr id="65" name="Shape 63"/>
          <p:cNvSpPr/>
          <p:nvPr/>
        </p:nvSpPr>
        <p:spPr>
          <a:xfrm>
            <a:off x="1709928" y="4713732"/>
            <a:ext cx="0" cy="516636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755648" y="4764024"/>
            <a:ext cx="2240280" cy="4434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Trending</a:t>
            </a:r>
            <a:endParaRPr lang="en-US" sz="740" dirty="0"/>
          </a:p>
        </p:txBody>
      </p:sp>
      <p:sp>
        <p:nvSpPr>
          <p:cNvPr id="67" name="Shape 65"/>
          <p:cNvSpPr/>
          <p:nvPr/>
        </p:nvSpPr>
        <p:spPr>
          <a:xfrm>
            <a:off x="4041648" y="4713732"/>
            <a:ext cx="0" cy="516636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087368" y="4764024"/>
            <a:ext cx="3886200" cy="4434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github.com/trending</a:t>
            </a:r>
            <a:endParaRPr lang="en-US" sz="740" dirty="0"/>
          </a:p>
        </p:txBody>
      </p:sp>
      <p:sp>
        <p:nvSpPr>
          <p:cNvPr id="69" name="Shape 67"/>
          <p:cNvSpPr/>
          <p:nvPr/>
        </p:nvSpPr>
        <p:spPr>
          <a:xfrm>
            <a:off x="8019288" y="4713732"/>
            <a:ext cx="0" cy="516636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065008" y="4764024"/>
            <a:ext cx="3703320" cy="4434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工具热度</a:t>
            </a:r>
            <a:endParaRPr lang="en-US" sz="740" dirty="0"/>
          </a:p>
        </p:txBody>
      </p:sp>
      <p:sp>
        <p:nvSpPr>
          <p:cNvPr id="71" name="Shape 69"/>
          <p:cNvSpPr/>
          <p:nvPr/>
        </p:nvSpPr>
        <p:spPr>
          <a:xfrm>
            <a:off x="384048" y="5230368"/>
            <a:ext cx="11430000" cy="516636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29768" y="5280660"/>
            <a:ext cx="1234440" cy="4434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</a:t>
            </a:r>
            <a:endParaRPr lang="en-US" sz="740" dirty="0"/>
          </a:p>
        </p:txBody>
      </p:sp>
      <p:sp>
        <p:nvSpPr>
          <p:cNvPr id="73" name="Shape 71"/>
          <p:cNvSpPr/>
          <p:nvPr/>
        </p:nvSpPr>
        <p:spPr>
          <a:xfrm>
            <a:off x="1709928" y="5230368"/>
            <a:ext cx="0" cy="516636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755648" y="5280660"/>
            <a:ext cx="2240280" cy="4434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Hugging Face Models</a:t>
            </a:r>
            <a:endParaRPr lang="en-US" sz="740" dirty="0"/>
          </a:p>
        </p:txBody>
      </p:sp>
      <p:sp>
        <p:nvSpPr>
          <p:cNvPr id="75" name="Shape 73"/>
          <p:cNvSpPr/>
          <p:nvPr/>
        </p:nvSpPr>
        <p:spPr>
          <a:xfrm>
            <a:off x="4041648" y="5230368"/>
            <a:ext cx="0" cy="516636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087368" y="5280660"/>
            <a:ext cx="3886200" cy="4434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huggingface.co/models</a:t>
            </a:r>
            <a:endParaRPr lang="en-US" sz="740" dirty="0"/>
          </a:p>
        </p:txBody>
      </p:sp>
      <p:sp>
        <p:nvSpPr>
          <p:cNvPr id="77" name="Shape 75"/>
          <p:cNvSpPr/>
          <p:nvPr/>
        </p:nvSpPr>
        <p:spPr>
          <a:xfrm>
            <a:off x="8019288" y="5230368"/>
            <a:ext cx="0" cy="516636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065008" y="5280660"/>
            <a:ext cx="3703320" cy="4434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模型发布</a:t>
            </a:r>
            <a:endParaRPr lang="en-US" sz="740" dirty="0"/>
          </a:p>
        </p:txBody>
      </p:sp>
      <p:sp>
        <p:nvSpPr>
          <p:cNvPr id="79" name="Shape 77"/>
          <p:cNvSpPr/>
          <p:nvPr/>
        </p:nvSpPr>
        <p:spPr>
          <a:xfrm>
            <a:off x="384048" y="5747004"/>
            <a:ext cx="11430000" cy="516636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29768" y="5797296"/>
            <a:ext cx="1234440" cy="4434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</a:t>
            </a:r>
            <a:endParaRPr lang="en-US" sz="740" dirty="0"/>
          </a:p>
        </p:txBody>
      </p:sp>
      <p:sp>
        <p:nvSpPr>
          <p:cNvPr id="81" name="Shape 79"/>
          <p:cNvSpPr/>
          <p:nvPr/>
        </p:nvSpPr>
        <p:spPr>
          <a:xfrm>
            <a:off x="1709928" y="5747004"/>
            <a:ext cx="0" cy="516636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755648" y="5797296"/>
            <a:ext cx="2240280" cy="4434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vLLM/Ollama/Transformers</a:t>
            </a:r>
            <a:endParaRPr lang="en-US" sz="740" dirty="0"/>
          </a:p>
        </p:txBody>
      </p:sp>
      <p:sp>
        <p:nvSpPr>
          <p:cNvPr id="83" name="Shape 81"/>
          <p:cNvSpPr/>
          <p:nvPr/>
        </p:nvSpPr>
        <p:spPr>
          <a:xfrm>
            <a:off x="4041648" y="5747004"/>
            <a:ext cx="0" cy="516636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087368" y="5797296"/>
            <a:ext cx="3886200" cy="4434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Releases</a:t>
            </a:r>
            <a:endParaRPr lang="en-US" sz="740" dirty="0"/>
          </a:p>
        </p:txBody>
      </p:sp>
      <p:sp>
        <p:nvSpPr>
          <p:cNvPr id="85" name="Shape 83"/>
          <p:cNvSpPr/>
          <p:nvPr/>
        </p:nvSpPr>
        <p:spPr>
          <a:xfrm>
            <a:off x="8019288" y="5747004"/>
            <a:ext cx="0" cy="516636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065008" y="5797296"/>
            <a:ext cx="3703320" cy="4434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部署与框架更新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CA3B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823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D：报告 / 政策 / 社区 / 二级聚合入口清单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589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用于发现长期趋势、监管风险、商业机会和早期热点线索。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11247120" cy="0"/>
          </a:xfrm>
          <a:prstGeom prst="line">
            <a:avLst/>
          </a:prstGeom>
          <a:noFill/>
          <a:ln w="12700">
            <a:solidFill>
              <a:srgbClr val="24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55480" y="347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2C8"/>
                </a:solidFill>
              </a:rPr>
              <a:t>Appendix 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84048" y="1097280"/>
            <a:ext cx="11430000" cy="574040"/>
          </a:xfrm>
          <a:prstGeom prst="rect">
            <a:avLst/>
          </a:prstGeom>
          <a:solidFill>
            <a:srgbClr val="11324D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147572"/>
            <a:ext cx="1143000" cy="500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类别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1618488" y="1097280"/>
            <a:ext cx="0" cy="57404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64208" y="1147572"/>
            <a:ext cx="2514600" cy="500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4224528" y="1097280"/>
            <a:ext cx="0" cy="57404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70248" y="1147572"/>
            <a:ext cx="4709160" cy="500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URL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9025128" y="1097280"/>
            <a:ext cx="0" cy="57404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70848" y="1147572"/>
            <a:ext cx="2697480" cy="500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384048" y="1671320"/>
            <a:ext cx="11430000" cy="57404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1721612"/>
            <a:ext cx="1143000" cy="500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618488" y="1671320"/>
            <a:ext cx="0" cy="57404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64208" y="1721612"/>
            <a:ext cx="2514600" cy="500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Stanford AI Index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224528" y="1671320"/>
            <a:ext cx="0" cy="57404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70248" y="1721612"/>
            <a:ext cx="4709160" cy="500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aiindex.stanford.edu/report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9025128" y="1671320"/>
            <a:ext cx="0" cy="57404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70848" y="1721612"/>
            <a:ext cx="2697480" cy="500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年度趋势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84048" y="2245360"/>
            <a:ext cx="11430000" cy="574040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" y="2295652"/>
            <a:ext cx="1143000" cy="500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VC/趋势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618488" y="2245360"/>
            <a:ext cx="0" cy="57404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64208" y="2295652"/>
            <a:ext cx="2514600" cy="500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a16z AI / Sequoia AI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224528" y="2245360"/>
            <a:ext cx="0" cy="57404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70248" y="2295652"/>
            <a:ext cx="4709160" cy="500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a16z.com/ai / sequoiacap.com/article/ai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9025128" y="2245360"/>
            <a:ext cx="0" cy="57404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70848" y="2295652"/>
            <a:ext cx="2697480" cy="500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赛道判断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84048" y="2819400"/>
            <a:ext cx="11430000" cy="57404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9768" y="2869692"/>
            <a:ext cx="1143000" cy="500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618488" y="2819400"/>
            <a:ext cx="0" cy="57404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64208" y="2869692"/>
            <a:ext cx="2514600" cy="500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NIST / OECD / EU AI Office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224528" y="2819400"/>
            <a:ext cx="0" cy="57404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70248" y="2869692"/>
            <a:ext cx="4709160" cy="500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nist.gov/itl/ai-risk-management-framework / oecd.ai / EU AI Office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9025128" y="2819400"/>
            <a:ext cx="0" cy="57404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70848" y="2869692"/>
            <a:ext cx="2697480" cy="500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合规风险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84048" y="3393440"/>
            <a:ext cx="11430000" cy="574040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9768" y="3443732"/>
            <a:ext cx="1143000" cy="500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618488" y="3393440"/>
            <a:ext cx="0" cy="57404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664208" y="3443732"/>
            <a:ext cx="2514600" cy="500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Incident Database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224528" y="3393440"/>
            <a:ext cx="0" cy="57404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70248" y="3443732"/>
            <a:ext cx="4709160" cy="500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incidentdatabase.ai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9025128" y="3393440"/>
            <a:ext cx="0" cy="57404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070848" y="3443732"/>
            <a:ext cx="2697480" cy="500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安全事故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84048" y="3967480"/>
            <a:ext cx="11430000" cy="57404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9768" y="4017772"/>
            <a:ext cx="1143000" cy="500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Newsletter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618488" y="3967480"/>
            <a:ext cx="0" cy="57404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664208" y="4017772"/>
            <a:ext cx="2514600" cy="500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Batch / TLDR AI / Latent Space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224528" y="3967480"/>
            <a:ext cx="0" cy="57404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70248" y="4017772"/>
            <a:ext cx="4709160" cy="500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deeplearning.ai/the-batch / tldr.tech/ai / latent.space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9025128" y="3967480"/>
            <a:ext cx="0" cy="57404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070848" y="4017772"/>
            <a:ext cx="2697480" cy="500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筛选线索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84048" y="4541520"/>
            <a:ext cx="11430000" cy="574040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9768" y="4591812"/>
            <a:ext cx="1143000" cy="500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1618488" y="4541520"/>
            <a:ext cx="0" cy="57404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664208" y="4591812"/>
            <a:ext cx="2514600" cy="500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Hacker News / Reddit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224528" y="4541520"/>
            <a:ext cx="0" cy="57404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270248" y="4591812"/>
            <a:ext cx="4709160" cy="500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news.ycombinator.com / reddit.com/r/LocalLLaMA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9025128" y="4541520"/>
            <a:ext cx="0" cy="57404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070848" y="4591812"/>
            <a:ext cx="2697480" cy="500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开发者反馈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384048" y="5115560"/>
            <a:ext cx="11430000" cy="574040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29768" y="5165852"/>
            <a:ext cx="1143000" cy="500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产品发现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1618488" y="5115560"/>
            <a:ext cx="0" cy="57404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664208" y="5165852"/>
            <a:ext cx="2514600" cy="500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 Hunt AI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224528" y="5115560"/>
            <a:ext cx="0" cy="57404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270248" y="5165852"/>
            <a:ext cx="4709160" cy="500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producthunt.com/topics/artificial-intelligence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9025128" y="5115560"/>
            <a:ext cx="0" cy="57404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070848" y="5165852"/>
            <a:ext cx="2697480" cy="500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新产品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384048" y="5689600"/>
            <a:ext cx="11430000" cy="574040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29768" y="5739892"/>
            <a:ext cx="1143000" cy="500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人工输入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1618488" y="5689600"/>
            <a:ext cx="0" cy="57404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664208" y="5739892"/>
            <a:ext cx="2514600" cy="500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 URL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4224528" y="5689600"/>
            <a:ext cx="0" cy="57404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270248" y="5739892"/>
            <a:ext cx="4709160" cy="500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浏览器复制/表单提交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9025128" y="5689600"/>
            <a:ext cx="0" cy="574040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070848" y="5739892"/>
            <a:ext cx="2697480" cy="500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高价值盲区补充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CA3B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823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33. 下一步调研与实现建议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589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先做来源策略清单，再做技术验证，不要一开始扩成全网爬虫。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11247120" cy="0"/>
          </a:xfrm>
          <a:prstGeom prst="line">
            <a:avLst/>
          </a:prstGeom>
          <a:noFill/>
          <a:ln w="12700">
            <a:solidFill>
              <a:srgbClr val="24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55480" y="347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2C8"/>
                </a:solidFill>
              </a:rPr>
              <a:t>Next steps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143000"/>
            <a:ext cx="11064240" cy="588645"/>
          </a:xfrm>
          <a:prstGeom prst="rect">
            <a:avLst/>
          </a:prstGeom>
          <a:solidFill>
            <a:srgbClr val="11324D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193292"/>
            <a:ext cx="1143000" cy="51549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1783080" y="1143000"/>
            <a:ext cx="0" cy="588645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1193292"/>
            <a:ext cx="3977640" cy="51549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5852160" y="1143000"/>
            <a:ext cx="0" cy="588645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97880" y="1193292"/>
            <a:ext cx="5669280" cy="51549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验收标准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548640" y="1731645"/>
            <a:ext cx="11064240" cy="588645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1781937"/>
            <a:ext cx="1143000" cy="51549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783080" y="1731645"/>
            <a:ext cx="0" cy="588645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1781937"/>
            <a:ext cx="3977640" cy="51549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 SourceType / SignalType 字典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852160" y="1731645"/>
            <a:ext cx="0" cy="588645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1781937"/>
            <a:ext cx="5669280" cy="51549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每类入口有定义、意义、代表 URL、获取策略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48640" y="2320290"/>
            <a:ext cx="11064240" cy="588645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370582"/>
            <a:ext cx="1143000" cy="51549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783080" y="2320290"/>
            <a:ext cx="0" cy="588645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0" y="2370582"/>
            <a:ext cx="3977640" cy="51549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扩充核心来源候选池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852160" y="2320290"/>
            <a:ext cx="0" cy="588645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2370582"/>
            <a:ext cx="5669280" cy="51549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OpenAI/Anthropic/Google/xAI/Meta/MiniMax 等入口齐全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48640" y="2908935"/>
            <a:ext cx="11064240" cy="588645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2959227"/>
            <a:ext cx="1143000" cy="51549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783080" y="2908935"/>
            <a:ext cx="0" cy="588645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28800" y="2959227"/>
            <a:ext cx="3977640" cy="51549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验证入口可抓性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852160" y="2908935"/>
            <a:ext cx="0" cy="588645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959227"/>
            <a:ext cx="5669280" cy="51549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RSS/HTML/Docs/Pricing/Benchmark 至少各跑通 1 个样本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48640" y="3497580"/>
            <a:ext cx="11064240" cy="588645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547872"/>
            <a:ext cx="1143000" cy="51549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783080" y="3497580"/>
            <a:ext cx="0" cy="588645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28800" y="3547872"/>
            <a:ext cx="3977640" cy="51549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 daily cycle 边界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852160" y="3497580"/>
            <a:ext cx="0" cy="588645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3547872"/>
            <a:ext cx="5669280" cy="51549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summary/report 有上限，重复运行可控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48640" y="4086225"/>
            <a:ext cx="11064240" cy="588645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4136517"/>
            <a:ext cx="1143000" cy="51549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783080" y="4086225"/>
            <a:ext cx="0" cy="588645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28800" y="4136517"/>
            <a:ext cx="3977640" cy="51549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 Docs Diff / Pricing Diff 探针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852160" y="4086225"/>
            <a:ext cx="0" cy="588645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97880" y="4136517"/>
            <a:ext cx="5669280" cy="51549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能输出能力/价格变化卡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48640" y="4674870"/>
            <a:ext cx="11064240" cy="588645"/>
          </a:xfrm>
          <a:prstGeom prst="rect">
            <a:avLst/>
          </a:prstGeom>
          <a:solidFill>
            <a:srgbClr val="0C1D31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" y="4725162"/>
            <a:ext cx="1143000" cy="51549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1783080" y="4674870"/>
            <a:ext cx="0" cy="588645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28800" y="4725162"/>
            <a:ext cx="3977640" cy="51549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 Benchmark 结构化跟踪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852160" y="4674870"/>
            <a:ext cx="0" cy="588645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97880" y="4725162"/>
            <a:ext cx="5669280" cy="51549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能检测榜单名次/分数变化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48640" y="5263515"/>
            <a:ext cx="11064240" cy="588645"/>
          </a:xfrm>
          <a:prstGeom prst="rect">
            <a:avLst/>
          </a:prstGeom>
          <a:solidFill>
            <a:srgbClr val="10233A"/>
          </a:solidFill>
          <a:ln w="5715">
            <a:solidFill>
              <a:srgbClr val="2441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4360" y="5313807"/>
            <a:ext cx="1143000" cy="51549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783080" y="5263515"/>
            <a:ext cx="0" cy="588645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28800" y="5313807"/>
            <a:ext cx="3977640" cy="51549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做手动 URL 导入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852160" y="5263515"/>
            <a:ext cx="0" cy="588645"/>
          </a:xfrm>
          <a:prstGeom prst="line">
            <a:avLst/>
          </a:prstGeom>
          <a:noFill/>
          <a:ln w="5080">
            <a:solidFill>
              <a:srgbClr val="24415F">
                <a:alpha val="85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897880" y="5313807"/>
            <a:ext cx="5669280" cy="51549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任何高价值链接都能进入 InsightCard 链路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CA3B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AI Frontier Radar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Frontier Radar 产品前期调研</dc:title>
  <dc:subject>AI Frontier Radar product research</dc:subject>
  <dc:creator>OpenAI</dc:creator>
  <cp:lastModifiedBy>OpenAI</cp:lastModifiedBy>
  <cp:revision>1</cp:revision>
  <dcterms:created xsi:type="dcterms:W3CDTF">2026-06-12T11:33:35Z</dcterms:created>
  <dcterms:modified xsi:type="dcterms:W3CDTF">2026-06-12T11:33:35Z</dcterms:modified>
</cp:coreProperties>
</file>